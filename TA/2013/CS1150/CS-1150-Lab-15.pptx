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7" r:id="rId4"/>
    <p:sldId id="268" r:id="rId5"/>
    <p:sldId id="310" r:id="rId6"/>
    <p:sldId id="312" r:id="rId7"/>
    <p:sldId id="314" r:id="rId8"/>
    <p:sldId id="328" r:id="rId9"/>
    <p:sldId id="313" r:id="rId10"/>
    <p:sldId id="315" r:id="rId11"/>
    <p:sldId id="326" r:id="rId12"/>
    <p:sldId id="327" r:id="rId13"/>
    <p:sldId id="316" r:id="rId14"/>
    <p:sldId id="317" r:id="rId15"/>
    <p:sldId id="318" r:id="rId16"/>
    <p:sldId id="319" r:id="rId17"/>
    <p:sldId id="311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3868-69B1-49D4-AC12-72EBE554F52A}" type="datetimeFigureOut">
              <a:rPr lang="en-US" smtClean="0"/>
              <a:t>11/10/2013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F786C-A293-4201-B9C0-D0C5BE35C3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20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886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14FF61A-096B-4ACC-9047-613DE7167064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827ED-A3A2-42F2-9D3C-AD26E709CEA1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22AD8-8288-404A-9459-8A274170FCB1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B23D6-372A-4D6F-88AE-B5725F2A5329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E645-F1A4-4824-9539-C88415E5AF9F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25E-FA51-4380-90D9-FC52469EBB7F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6B73D-B680-47CD-B2C3-E78687C23558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AEE0E-B558-46EB-9D93-461202666F38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0753F-683B-40AA-8AF9-C87935C56215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9783-A5DD-49F7-92FF-1871D119E57E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C348-74BF-44B1-84CD-0D4D3D31186D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612BD-51E1-437C-A0D0-E2E887370D9A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93F7-F63D-4FAB-9C50-ED9929F6F703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41D91-F438-46DF-A32B-FB52C76F8BBD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AB03-E250-4387-8B3C-9E42EECCE70C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2DF5D-E689-472C-BC94-5BE32A3F0629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46424-E59A-4C5D-B6D2-C0D70A2558E5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46D926-8CAD-420B-9CAE-05AE90F77374}" type="datetime1">
              <a:rPr lang="en-US" smtClean="0"/>
              <a:t>11/10/2013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dirty="0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jeratne.2@wrigh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knoesis.org/researchers/sanjaya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wijeratne.2@wrigh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Network_topology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en.wikipedia.org/wiki/Hop_(networking)#Next_hop_forwardi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CS 1150 </a:t>
            </a:r>
            <a:r>
              <a:rPr lang="en-US" sz="4000" dirty="0" smtClean="0"/>
              <a:t>– Lab #</a:t>
            </a:r>
            <a:r>
              <a:rPr lang="en-US" sz="4000" dirty="0" smtClean="0"/>
              <a:t>15 </a:t>
            </a:r>
            <a:r>
              <a:rPr lang="en-US" sz="4000" dirty="0" smtClean="0"/>
              <a:t>– </a:t>
            </a:r>
            <a:r>
              <a:rPr lang="en-US" sz="4000" dirty="0" smtClean="0"/>
              <a:t>Networking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TA – Sanjaya Wijeratne</a:t>
            </a:r>
          </a:p>
          <a:p>
            <a:r>
              <a:rPr lang="en-US" dirty="0" smtClean="0"/>
              <a:t>E-mail – </a:t>
            </a:r>
            <a:r>
              <a:rPr lang="en-US" dirty="0" smtClean="0">
                <a:hlinkClick r:id="rId3"/>
              </a:rPr>
              <a:t>wijeratne.2@wright.edu</a:t>
            </a:r>
            <a:endParaRPr lang="en-US" dirty="0"/>
          </a:p>
          <a:p>
            <a:r>
              <a:rPr lang="en-US" dirty="0" smtClean="0"/>
              <a:t>Web Page - </a:t>
            </a:r>
            <a:r>
              <a:rPr lang="en-US" dirty="0">
                <a:hlinkClick r:id="rId4"/>
              </a:rPr>
              <a:t>http://knoesis.org/researchers/sanjaya/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683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 Labs, Office Hours Laboratory </a:t>
            </a:r>
            <a:r>
              <a:rPr lang="en-US" dirty="0"/>
              <a:t>Polices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Lab Hours</a:t>
            </a:r>
          </a:p>
          <a:p>
            <a:pPr lvl="1"/>
            <a:r>
              <a:rPr lang="en-US" dirty="0" smtClean="0"/>
              <a:t> 2:30 PM </a:t>
            </a:r>
            <a:r>
              <a:rPr lang="en-US" dirty="0"/>
              <a:t>- 4:20 </a:t>
            </a:r>
            <a:r>
              <a:rPr lang="en-US" dirty="0" smtClean="0"/>
              <a:t>PM, </a:t>
            </a:r>
            <a:r>
              <a:rPr lang="en-US" dirty="0"/>
              <a:t>Monday and Friday at Room 320 - </a:t>
            </a:r>
            <a:r>
              <a:rPr lang="en-US" dirty="0"/>
              <a:t>Oelman</a:t>
            </a:r>
            <a:r>
              <a:rPr lang="en-US" dirty="0"/>
              <a:t> </a:t>
            </a:r>
            <a:r>
              <a:rPr lang="en-US" dirty="0" smtClean="0"/>
              <a:t>Hall</a:t>
            </a:r>
          </a:p>
          <a:p>
            <a:r>
              <a:rPr lang="en-US" dirty="0" smtClean="0"/>
              <a:t>TA Office Hours</a:t>
            </a:r>
          </a:p>
          <a:p>
            <a:pPr lvl="1"/>
            <a:r>
              <a:rPr lang="en-US" dirty="0"/>
              <a:t>4:40 </a:t>
            </a:r>
            <a:r>
              <a:rPr lang="en-US" dirty="0" smtClean="0"/>
              <a:t>PM </a:t>
            </a:r>
            <a:r>
              <a:rPr lang="en-US" dirty="0"/>
              <a:t>- 5:40 </a:t>
            </a:r>
            <a:r>
              <a:rPr lang="en-US" dirty="0" smtClean="0"/>
              <a:t>PM, </a:t>
            </a:r>
            <a:r>
              <a:rPr lang="en-US" dirty="0"/>
              <a:t>Monday and Friday at Room 316 - Russ Engineer </a:t>
            </a:r>
            <a:r>
              <a:rPr lang="en-US" dirty="0" smtClean="0"/>
              <a:t>Center</a:t>
            </a:r>
          </a:p>
          <a:p>
            <a:pPr lvl="1"/>
            <a:r>
              <a:rPr lang="en-US" dirty="0" smtClean="0"/>
              <a:t>By appointment – Please email to </a:t>
            </a:r>
            <a:r>
              <a:rPr lang="en-US" dirty="0">
                <a:hlinkClick r:id="rId2"/>
              </a:rPr>
              <a:t>wijeratne.2@wright.edu</a:t>
            </a:r>
            <a:endParaRPr lang="en-US" dirty="0"/>
          </a:p>
          <a:p>
            <a:r>
              <a:rPr lang="en-US" dirty="0" smtClean="0"/>
              <a:t>Refer </a:t>
            </a:r>
            <a:r>
              <a:rPr lang="en-US" dirty="0"/>
              <a:t>to CS 1150 </a:t>
            </a:r>
            <a:r>
              <a:rPr lang="en-US" dirty="0" smtClean="0"/>
              <a:t>Course Syllabus for Class and Laboratory Policies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Zero </a:t>
            </a:r>
            <a:r>
              <a:rPr lang="en-US" b="1" dirty="0">
                <a:solidFill>
                  <a:srgbClr val="FF0000"/>
                </a:solidFill>
              </a:rPr>
              <a:t>tolerance policy for </a:t>
            </a:r>
            <a:r>
              <a:rPr lang="en-US" b="1" dirty="0" smtClean="0">
                <a:solidFill>
                  <a:srgbClr val="FF0000"/>
                </a:solidFill>
              </a:rPr>
              <a:t>Academic Misconduct – All parties will get 0% marks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034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# </a:t>
            </a:r>
            <a:r>
              <a:rPr lang="en-US" dirty="0" smtClean="0"/>
              <a:t>15 </a:t>
            </a: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18832"/>
            <a:ext cx="9601198" cy="3450168"/>
          </a:xfrm>
        </p:spPr>
        <p:txBody>
          <a:bodyPr>
            <a:normAutofit/>
          </a:bodyPr>
          <a:lstStyle/>
          <a:p>
            <a:r>
              <a:rPr lang="en-US" sz="3200" dirty="0"/>
              <a:t>Study how networks route packets to various </a:t>
            </a:r>
            <a:r>
              <a:rPr lang="en-US" sz="3200" dirty="0" smtClean="0"/>
              <a:t>destinations</a:t>
            </a:r>
          </a:p>
          <a:p>
            <a:r>
              <a:rPr lang="en-US" sz="3200" dirty="0"/>
              <a:t>Learn how networks ensure reliable delivery</a:t>
            </a:r>
            <a:endParaRPr lang="en-US" sz="3200" dirty="0" smtClean="0"/>
          </a:p>
          <a:p>
            <a:r>
              <a:rPr lang="en-US" sz="3200" b="1" dirty="0" smtClean="0"/>
              <a:t>Read all lab activities before attempting exercises </a:t>
            </a:r>
            <a:endParaRPr lang="en-US" sz="3200" b="1" dirty="0" smtClean="0"/>
          </a:p>
          <a:p>
            <a:r>
              <a:rPr lang="en-US" sz="3200" b="1" dirty="0" smtClean="0"/>
              <a:t>Answer </a:t>
            </a:r>
            <a:r>
              <a:rPr lang="en-US" sz="3200" b="1" dirty="0" smtClean="0"/>
              <a:t>all questions in Exercises </a:t>
            </a:r>
            <a:r>
              <a:rPr lang="en-US" sz="3200" b="1" dirty="0" smtClean="0"/>
              <a:t>1</a:t>
            </a:r>
            <a:r>
              <a:rPr lang="en-US" sz="3200" b="1" dirty="0" smtClean="0"/>
              <a:t>, </a:t>
            </a:r>
            <a:r>
              <a:rPr lang="en-US" sz="3200" b="1" dirty="0" smtClean="0"/>
              <a:t>2, 4 and 5</a:t>
            </a:r>
            <a:endParaRPr lang="en-US" sz="3200" b="1" dirty="0" smtClean="0"/>
          </a:p>
          <a:p>
            <a:r>
              <a:rPr lang="en-US" sz="3200" b="1" dirty="0" smtClean="0">
                <a:solidFill>
                  <a:srgbClr val="FF0000"/>
                </a:solidFill>
              </a:rPr>
              <a:t>Lab </a:t>
            </a:r>
            <a:r>
              <a:rPr lang="en-US" sz="3200" b="1" dirty="0" smtClean="0">
                <a:solidFill>
                  <a:srgbClr val="FF0000"/>
                </a:solidFill>
              </a:rPr>
              <a:t>#15 </a:t>
            </a:r>
            <a:r>
              <a:rPr lang="en-US" sz="3200" b="1" dirty="0">
                <a:solidFill>
                  <a:srgbClr val="FF0000"/>
                </a:solidFill>
              </a:rPr>
              <a:t>Due </a:t>
            </a:r>
            <a:r>
              <a:rPr lang="en-US" sz="3200" b="1" dirty="0" smtClean="0">
                <a:solidFill>
                  <a:srgbClr val="FF0000"/>
                </a:solidFill>
              </a:rPr>
              <a:t>Date </a:t>
            </a:r>
            <a:r>
              <a:rPr lang="en-US" sz="3200" b="1" dirty="0">
                <a:solidFill>
                  <a:srgbClr val="FF0000"/>
                </a:solidFill>
              </a:rPr>
              <a:t>- </a:t>
            </a:r>
            <a:r>
              <a:rPr lang="en-US" sz="3200" b="1" dirty="0" smtClean="0">
                <a:solidFill>
                  <a:srgbClr val="FF0000"/>
                </a:solidFill>
              </a:rPr>
              <a:t>Nov </a:t>
            </a:r>
            <a:r>
              <a:rPr lang="en-US" sz="3200" b="1" dirty="0" smtClean="0">
                <a:solidFill>
                  <a:srgbClr val="FF0000"/>
                </a:solidFill>
              </a:rPr>
              <a:t>22</a:t>
            </a:r>
            <a:r>
              <a:rPr lang="en-US" sz="3200" b="1" dirty="0" smtClean="0">
                <a:solidFill>
                  <a:srgbClr val="FF0000"/>
                </a:solidFill>
              </a:rPr>
              <a:t>, </a:t>
            </a:r>
            <a:r>
              <a:rPr lang="en-US" sz="3200" b="1" dirty="0">
                <a:solidFill>
                  <a:srgbClr val="FF0000"/>
                </a:solidFill>
              </a:rPr>
              <a:t>2013 </a:t>
            </a:r>
            <a:r>
              <a:rPr lang="en-US" sz="3200" b="1" dirty="0" smtClean="0">
                <a:solidFill>
                  <a:srgbClr val="FF0000"/>
                </a:solidFill>
              </a:rPr>
              <a:t>12:30 PM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62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Submit Lab # </a:t>
            </a:r>
            <a:r>
              <a:rPr lang="en-US" dirty="0" smtClean="0"/>
              <a:t>15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2"/>
            <a:ext cx="9867899" cy="3318936"/>
          </a:xfrm>
        </p:spPr>
        <p:txBody>
          <a:bodyPr>
            <a:normAutofit/>
          </a:bodyPr>
          <a:lstStyle/>
          <a:p>
            <a:r>
              <a:rPr lang="en-US" dirty="0" smtClean="0"/>
              <a:t>Hard copy (Preferred)</a:t>
            </a:r>
          </a:p>
          <a:p>
            <a:pPr lvl="1"/>
            <a:r>
              <a:rPr lang="en-US" dirty="0" smtClean="0"/>
              <a:t>When you complete, hand it over to me</a:t>
            </a:r>
          </a:p>
          <a:p>
            <a:r>
              <a:rPr lang="en-US" dirty="0" smtClean="0"/>
              <a:t>Pilot</a:t>
            </a:r>
          </a:p>
          <a:p>
            <a:pPr lvl="1"/>
            <a:r>
              <a:rPr lang="en-US" dirty="0" smtClean="0"/>
              <a:t>Go to Pilot Course Page and Use Dropbox Submission Link to upload your files</a:t>
            </a:r>
          </a:p>
          <a:p>
            <a:r>
              <a:rPr lang="en-US" dirty="0" smtClean="0"/>
              <a:t>My Mailbox at CS Department </a:t>
            </a:r>
          </a:p>
          <a:p>
            <a:pPr lvl="1"/>
            <a:r>
              <a:rPr lang="en-US" dirty="0" smtClean="0"/>
              <a:t>Go to CS Department Front Desk and ask them to put your assignment into my mailbox – Please write my name on your assignment (</a:t>
            </a:r>
            <a:r>
              <a:rPr lang="en-US" b="1" dirty="0" smtClean="0">
                <a:solidFill>
                  <a:srgbClr val="FF0000"/>
                </a:solidFill>
              </a:rPr>
              <a:t>TA – CS 1150 – Sanjaya Wijeratne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916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What is a Computer Network?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Group of computers (2 or more) that are connected together to share data</a:t>
            </a:r>
          </a:p>
          <a:p>
            <a:pPr lvl="1"/>
            <a:r>
              <a:rPr lang="en-US" sz="2600" dirty="0" smtClean="0"/>
              <a:t>Eg – Internet</a:t>
            </a:r>
          </a:p>
          <a:p>
            <a:r>
              <a:rPr lang="en-US" sz="3000" dirty="0" smtClean="0"/>
              <a:t>Connections between computers in a network can be physical using cables/wires or wireless via radio waves</a:t>
            </a:r>
            <a:endParaRPr lang="en-US" sz="30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372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Network Protocols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Protocol is a set of rules that governs a particular task. A network protocol governs how computers communicate in a network.</a:t>
            </a:r>
            <a:endParaRPr lang="en-US" sz="3000" dirty="0" smtClean="0"/>
          </a:p>
          <a:p>
            <a:r>
              <a:rPr lang="en-US" sz="3000" dirty="0" smtClean="0"/>
              <a:t>TCP/IP</a:t>
            </a:r>
          </a:p>
          <a:p>
            <a:pPr lvl="1"/>
            <a:r>
              <a:rPr lang="en-US" sz="2600" dirty="0" smtClean="0"/>
              <a:t>Transmission Control Protocol – Reliable Communication</a:t>
            </a:r>
          </a:p>
          <a:p>
            <a:pPr lvl="1"/>
            <a:r>
              <a:rPr lang="en-US" sz="2600" dirty="0" smtClean="0"/>
              <a:t>IP – Addressing</a:t>
            </a:r>
            <a:endParaRPr lang="en-US" sz="26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6302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Network Topology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Network Topology is the arrangement of different elements in a computer network.</a:t>
            </a:r>
          </a:p>
          <a:p>
            <a:pPr lvl="1"/>
            <a:r>
              <a:rPr lang="en-US" sz="2600" dirty="0" smtClean="0"/>
              <a:t>Bus</a:t>
            </a:r>
          </a:p>
          <a:p>
            <a:pPr lvl="1"/>
            <a:r>
              <a:rPr lang="en-US" sz="2600" dirty="0" smtClean="0"/>
              <a:t>Star</a:t>
            </a:r>
          </a:p>
          <a:p>
            <a:pPr lvl="1"/>
            <a:r>
              <a:rPr lang="en-US" sz="2600" dirty="0" smtClean="0"/>
              <a:t>Ring </a:t>
            </a:r>
            <a:endParaRPr lang="en-US" sz="260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564" y="3013075"/>
            <a:ext cx="6211933" cy="3044825"/>
          </a:xfrm>
          <a:prstGeom prst="rect">
            <a:avLst/>
          </a:prstGeom>
        </p:spPr>
      </p:pic>
      <p:sp>
        <p:nvSpPr>
          <p:cNvPr id="9" name="Footer Placeholder 3"/>
          <p:cNvSpPr txBox="1">
            <a:spLocks/>
          </p:cNvSpPr>
          <p:nvPr/>
        </p:nvSpPr>
        <p:spPr>
          <a:xfrm>
            <a:off x="1295401" y="5689600"/>
            <a:ext cx="3732163" cy="368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 smtClean="0"/>
              <a:t>Source – </a:t>
            </a:r>
            <a:r>
              <a:rPr lang="en-US" sz="1200" dirty="0">
                <a:hlinkClick r:id="rId3"/>
              </a:rPr>
              <a:t>http://en.wikipedia.org/wiki/Network_topology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957498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Routing in a Network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Each node in the network has a routing table</a:t>
            </a:r>
            <a:endParaRPr lang="en-US" sz="3000" dirty="0" smtClean="0"/>
          </a:p>
          <a:p>
            <a:r>
              <a:rPr lang="en-US" sz="3000" dirty="0" smtClean="0"/>
              <a:t>Routing table keeps track of</a:t>
            </a:r>
          </a:p>
          <a:p>
            <a:pPr lvl="1"/>
            <a:r>
              <a:rPr lang="en-US" sz="2600" dirty="0" smtClean="0"/>
              <a:t>What are the other nodes directly connected to a given node</a:t>
            </a:r>
          </a:p>
          <a:p>
            <a:pPr lvl="1"/>
            <a:r>
              <a:rPr lang="en-US" sz="2600" dirty="0" smtClean="0"/>
              <a:t>What routes to take if a node is not directly connected to the given node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  <p:sp>
        <p:nvSpPr>
          <p:cNvPr id="8" name="Footer Placeholder 3"/>
          <p:cNvSpPr txBox="1">
            <a:spLocks/>
          </p:cNvSpPr>
          <p:nvPr/>
        </p:nvSpPr>
        <p:spPr>
          <a:xfrm>
            <a:off x="1295401" y="5689600"/>
            <a:ext cx="5156199" cy="368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 smtClean="0"/>
              <a:t>Source – </a:t>
            </a:r>
            <a:r>
              <a:rPr lang="en-US" sz="1200" dirty="0">
                <a:hlinkClick r:id="rId2"/>
              </a:rPr>
              <a:t>http://en.wikipedia.org/wiki/Hop_(networking)#Next_hop_forwarding</a:t>
            </a:r>
            <a:endParaRPr lang="en-US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233" y="4839510"/>
            <a:ext cx="4910016" cy="135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278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TCP/IP Applet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TCP/IP applet simulates a reliable communication between two nodes (computers) in a network</a:t>
            </a:r>
          </a:p>
          <a:p>
            <a:pPr lvl="1"/>
            <a:r>
              <a:rPr lang="en-US" sz="2600" dirty="0" smtClean="0"/>
              <a:t>DAT – Data packet</a:t>
            </a:r>
          </a:p>
          <a:p>
            <a:pPr lvl="1"/>
            <a:r>
              <a:rPr lang="en-US" sz="2600" dirty="0" smtClean="0"/>
              <a:t>ACK – Acknowledgement that data was received without errors</a:t>
            </a:r>
          </a:p>
          <a:p>
            <a:pPr lvl="1"/>
            <a:r>
              <a:rPr lang="en-US" sz="2600" dirty="0" smtClean="0"/>
              <a:t>NAK – Negative Acknowledgement which says there was an error in data receiving.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4608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/>
              <a:t>TCP/IP </a:t>
            </a:r>
            <a:r>
              <a:rPr lang="en-US" dirty="0" smtClean="0"/>
              <a:t>Applet Cont.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90600" y="2453327"/>
            <a:ext cx="6039700" cy="3515672"/>
            <a:chOff x="990600" y="2453327"/>
            <a:chExt cx="6039700" cy="351567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7601" y="2453327"/>
              <a:ext cx="5092699" cy="3515672"/>
            </a:xfrm>
            <a:prstGeom prst="rect">
              <a:avLst/>
            </a:prstGeom>
          </p:spPr>
        </p:pic>
        <p:cxnSp>
          <p:nvCxnSpPr>
            <p:cNvPr id="8" name="Straight Arrow Connector 7"/>
            <p:cNvCxnSpPr/>
            <p:nvPr/>
          </p:nvCxnSpPr>
          <p:spPr>
            <a:xfrm>
              <a:off x="1689099" y="2908299"/>
              <a:ext cx="1079501" cy="12700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990600" y="2597834"/>
              <a:ext cx="858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Data Packet</a:t>
              </a:r>
              <a:endParaRPr lang="en-US" b="1" dirty="0"/>
            </a:p>
          </p:txBody>
        </p:sp>
      </p:grpSp>
      <p:sp>
        <p:nvSpPr>
          <p:cNvPr id="12" name="Content Placeholder 5"/>
          <p:cNvSpPr>
            <a:spLocks noGrp="1"/>
          </p:cNvSpPr>
          <p:nvPr>
            <p:ph idx="1"/>
          </p:nvPr>
        </p:nvSpPr>
        <p:spPr>
          <a:xfrm>
            <a:off x="7119201" y="2595142"/>
            <a:ext cx="4082199" cy="3373857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DAT</a:t>
            </a:r>
            <a:r>
              <a:rPr lang="en-US" sz="3000" dirty="0" smtClean="0"/>
              <a:t> </a:t>
            </a:r>
            <a:r>
              <a:rPr lang="en-US" sz="3000" b="1" dirty="0" smtClean="0">
                <a:solidFill>
                  <a:srgbClr val="FF0000"/>
                </a:solidFill>
              </a:rPr>
              <a:t>1</a:t>
            </a:r>
            <a:r>
              <a:rPr lang="en-US" sz="3000" dirty="0" smtClean="0"/>
              <a:t> </a:t>
            </a:r>
            <a:r>
              <a:rPr lang="en-US" sz="3000" b="1" dirty="0" smtClean="0">
                <a:solidFill>
                  <a:schemeClr val="accent3"/>
                </a:solidFill>
              </a:rPr>
              <a:t>0</a:t>
            </a:r>
            <a:r>
              <a:rPr lang="en-US" sz="3000" dirty="0" smtClean="0"/>
              <a:t> </a:t>
            </a:r>
            <a:r>
              <a:rPr lang="en-US" sz="3000" b="1" dirty="0" smtClean="0"/>
              <a:t>221</a:t>
            </a:r>
          </a:p>
          <a:p>
            <a:pPr lvl="1"/>
            <a:r>
              <a:rPr lang="en-US" sz="2600" b="1" dirty="0" smtClean="0">
                <a:solidFill>
                  <a:srgbClr val="FF0000"/>
                </a:solidFill>
              </a:rPr>
              <a:t>1</a:t>
            </a:r>
            <a:r>
              <a:rPr lang="en-US" sz="2600" dirty="0" smtClean="0"/>
              <a:t> – Destination Address</a:t>
            </a:r>
          </a:p>
          <a:p>
            <a:pPr lvl="1"/>
            <a:r>
              <a:rPr lang="en-US" sz="2600" b="1" dirty="0" smtClean="0">
                <a:solidFill>
                  <a:schemeClr val="accent3"/>
                </a:solidFill>
              </a:rPr>
              <a:t>0</a:t>
            </a:r>
            <a:r>
              <a:rPr lang="en-US" sz="2600" dirty="0" smtClean="0"/>
              <a:t> – Sequence Number</a:t>
            </a:r>
          </a:p>
          <a:p>
            <a:pPr lvl="1"/>
            <a:r>
              <a:rPr lang="en-US" sz="2600" b="1" dirty="0" smtClean="0"/>
              <a:t>221</a:t>
            </a:r>
            <a:r>
              <a:rPr lang="en-US" sz="2600" dirty="0" smtClean="0"/>
              <a:t> – Checksum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17411491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236" y="2504230"/>
            <a:ext cx="4875429" cy="3464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/>
              <a:t>TCP/IP </a:t>
            </a:r>
            <a:r>
              <a:rPr lang="en-US" dirty="0" smtClean="0"/>
              <a:t>Applet Cont.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701800" y="3460065"/>
            <a:ext cx="1413129" cy="703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6351" y="3136899"/>
            <a:ext cx="85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ACK Packet</a:t>
            </a:r>
            <a:endParaRPr lang="en-US" b="1" dirty="0"/>
          </a:p>
        </p:txBody>
      </p:sp>
      <p:sp>
        <p:nvSpPr>
          <p:cNvPr id="12" name="Content Placeholder 5"/>
          <p:cNvSpPr>
            <a:spLocks noGrp="1"/>
          </p:cNvSpPr>
          <p:nvPr>
            <p:ph idx="1"/>
          </p:nvPr>
        </p:nvSpPr>
        <p:spPr>
          <a:xfrm>
            <a:off x="7119201" y="2595142"/>
            <a:ext cx="4082199" cy="3373857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ACK</a:t>
            </a:r>
            <a:r>
              <a:rPr lang="en-US" sz="3000" dirty="0" smtClean="0"/>
              <a:t> </a:t>
            </a:r>
            <a:r>
              <a:rPr lang="en-US" sz="3000" b="1" dirty="0" smtClean="0">
                <a:solidFill>
                  <a:srgbClr val="FF0000"/>
                </a:solidFill>
              </a:rPr>
              <a:t>0</a:t>
            </a:r>
            <a:r>
              <a:rPr lang="en-US" sz="3000" dirty="0" smtClean="0"/>
              <a:t> </a:t>
            </a:r>
            <a:r>
              <a:rPr lang="en-US" sz="3000" b="1" dirty="0" smtClean="0">
                <a:solidFill>
                  <a:schemeClr val="accent3"/>
                </a:solidFill>
              </a:rPr>
              <a:t>1</a:t>
            </a:r>
            <a:r>
              <a:rPr lang="en-US" sz="3000" dirty="0" smtClean="0"/>
              <a:t> </a:t>
            </a:r>
            <a:r>
              <a:rPr lang="en-US" sz="3000" b="1" dirty="0" smtClean="0"/>
              <a:t>0</a:t>
            </a:r>
          </a:p>
          <a:p>
            <a:pPr lvl="1"/>
            <a:r>
              <a:rPr lang="en-US" sz="2600" b="1" dirty="0" smtClean="0">
                <a:solidFill>
                  <a:srgbClr val="FF0000"/>
                </a:solidFill>
              </a:rPr>
              <a:t>0</a:t>
            </a:r>
            <a:r>
              <a:rPr lang="en-US" sz="2600" dirty="0" smtClean="0"/>
              <a:t> – Destination Address</a:t>
            </a:r>
          </a:p>
          <a:p>
            <a:pPr lvl="1"/>
            <a:r>
              <a:rPr lang="en-US" sz="2600" b="1" dirty="0" smtClean="0">
                <a:solidFill>
                  <a:schemeClr val="accent3"/>
                </a:solidFill>
              </a:rPr>
              <a:t>1</a:t>
            </a:r>
            <a:r>
              <a:rPr lang="en-US" sz="2600" dirty="0" smtClean="0"/>
              <a:t> – Sequence Number</a:t>
            </a:r>
          </a:p>
          <a:p>
            <a:pPr lvl="1"/>
            <a:r>
              <a:rPr lang="en-US" sz="2600" b="1" dirty="0" smtClean="0"/>
              <a:t>0</a:t>
            </a:r>
            <a:r>
              <a:rPr lang="en-US" sz="2600" dirty="0" smtClean="0"/>
              <a:t> – Checksum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13637543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/>
              <a:t>TCP/IP </a:t>
            </a:r>
            <a:r>
              <a:rPr lang="en-US" dirty="0" smtClean="0"/>
              <a:t>Applet Cont.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idx="1"/>
          </p:nvPr>
        </p:nvSpPr>
        <p:spPr>
          <a:xfrm>
            <a:off x="7119201" y="2595142"/>
            <a:ext cx="4082199" cy="3373857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NAK</a:t>
            </a:r>
            <a:r>
              <a:rPr lang="en-US" sz="3000" dirty="0" smtClean="0"/>
              <a:t> </a:t>
            </a:r>
            <a:r>
              <a:rPr lang="en-US" sz="3000" b="1" dirty="0" smtClean="0">
                <a:solidFill>
                  <a:srgbClr val="FF0000"/>
                </a:solidFill>
              </a:rPr>
              <a:t>0</a:t>
            </a:r>
            <a:r>
              <a:rPr lang="en-US" sz="3000" dirty="0" smtClean="0"/>
              <a:t> </a:t>
            </a:r>
            <a:r>
              <a:rPr lang="en-US" sz="3000" b="1" dirty="0" smtClean="0">
                <a:solidFill>
                  <a:schemeClr val="accent3"/>
                </a:solidFill>
              </a:rPr>
              <a:t>1</a:t>
            </a:r>
            <a:r>
              <a:rPr lang="en-US" sz="3000" dirty="0" smtClean="0"/>
              <a:t> </a:t>
            </a:r>
            <a:r>
              <a:rPr lang="en-US" sz="3000" b="1" dirty="0" smtClean="0"/>
              <a:t>0</a:t>
            </a:r>
          </a:p>
          <a:p>
            <a:pPr lvl="1"/>
            <a:r>
              <a:rPr lang="en-US" sz="2600" b="1" dirty="0" smtClean="0">
                <a:solidFill>
                  <a:srgbClr val="FF0000"/>
                </a:solidFill>
              </a:rPr>
              <a:t>0</a:t>
            </a:r>
            <a:r>
              <a:rPr lang="en-US" sz="2600" dirty="0" smtClean="0"/>
              <a:t> – Destination Address</a:t>
            </a:r>
          </a:p>
          <a:p>
            <a:pPr lvl="1"/>
            <a:r>
              <a:rPr lang="en-US" sz="2600" b="1" dirty="0" smtClean="0">
                <a:solidFill>
                  <a:schemeClr val="accent3"/>
                </a:solidFill>
              </a:rPr>
              <a:t>1</a:t>
            </a:r>
            <a:r>
              <a:rPr lang="en-US" sz="2600" dirty="0" smtClean="0"/>
              <a:t> – Sequence Number</a:t>
            </a:r>
          </a:p>
          <a:p>
            <a:pPr lvl="1"/>
            <a:r>
              <a:rPr lang="en-US" sz="2600" b="1" dirty="0" smtClean="0"/>
              <a:t>0</a:t>
            </a:r>
            <a:r>
              <a:rPr lang="en-US" sz="2600" dirty="0" smtClean="0"/>
              <a:t> – Checksum</a:t>
            </a:r>
            <a:endParaRPr lang="en-US" sz="26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820" y="2518941"/>
            <a:ext cx="5351780" cy="35120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351" y="3136899"/>
            <a:ext cx="85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NAK Packet</a:t>
            </a:r>
            <a:endParaRPr lang="en-US" b="1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584305" y="3460064"/>
            <a:ext cx="1158895" cy="703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5845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Exercise 1 – Q4 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DAT 0 x xxx / ACK 1 x xxx – Consider all DAT and ACK messages (headers) have 9 Characters</a:t>
            </a:r>
          </a:p>
          <a:p>
            <a:r>
              <a:rPr lang="en-US" sz="3000" dirty="0" smtClean="0"/>
              <a:t>All DAK messages can carry up to 10 characters of data (payload)</a:t>
            </a:r>
          </a:p>
          <a:p>
            <a:r>
              <a:rPr lang="en-US" sz="3000" b="1" dirty="0" smtClean="0">
                <a:solidFill>
                  <a:srgbClr val="FF0000"/>
                </a:solidFill>
              </a:rPr>
              <a:t>Your answer to this question should be 160. Show me the steps to get marks.</a:t>
            </a:r>
            <a:endParaRPr lang="en-US" sz="3000" b="1" dirty="0">
              <a:solidFill>
                <a:srgbClr val="FF0000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4178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/>
              <a:t>Exercise 1 – </a:t>
            </a:r>
            <a:r>
              <a:rPr lang="en-US" dirty="0" smtClean="0"/>
              <a:t>Q5 </a:t>
            </a:r>
            <a:r>
              <a:rPr lang="en-US" dirty="0"/>
              <a:t>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Use the following formula to calculate overhead</a:t>
            </a:r>
          </a:p>
          <a:p>
            <a:endParaRPr lang="en-US" sz="3000" dirty="0"/>
          </a:p>
          <a:p>
            <a:endParaRPr lang="en-US" sz="3000" dirty="0" smtClean="0"/>
          </a:p>
          <a:p>
            <a:endParaRPr lang="en-US" sz="30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295401" y="3412643"/>
            <a:ext cx="9612965" cy="803757"/>
            <a:chOff x="685801" y="3591226"/>
            <a:chExt cx="9612965" cy="803757"/>
          </a:xfrm>
        </p:grpSpPr>
        <p:sp>
          <p:nvSpPr>
            <p:cNvPr id="3" name="TextBox 2"/>
            <p:cNvSpPr txBox="1"/>
            <p:nvPr/>
          </p:nvSpPr>
          <p:spPr>
            <a:xfrm>
              <a:off x="685801" y="3591226"/>
              <a:ext cx="85104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sz="2000" b="1" dirty="0"/>
                <a:t>Total </a:t>
              </a:r>
              <a:r>
                <a:rPr lang="en-US" sz="2000" b="1" dirty="0" smtClean="0"/>
                <a:t>No. </a:t>
              </a:r>
              <a:r>
                <a:rPr lang="en-US" sz="2000" b="1" dirty="0"/>
                <a:t>of Characters </a:t>
              </a:r>
              <a:r>
                <a:rPr lang="en-US" sz="2000" b="1" dirty="0" smtClean="0"/>
                <a:t>Exchanged – Total No. Characters in Message</a:t>
              </a:r>
              <a:endParaRPr lang="en-US" sz="2000"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77719" y="3994873"/>
              <a:ext cx="45273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sz="2000" b="1" dirty="0"/>
                <a:t>Total No. of Characters Exchanged</a:t>
              </a:r>
              <a:endParaRPr lang="en-US" sz="2000" b="1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1295401" y="3991336"/>
              <a:ext cx="76199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8596966" y="3727389"/>
              <a:ext cx="170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en-US" sz="2000" b="1" dirty="0" smtClean="0"/>
                <a:t>x 100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776031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/>
              <a:t>Exercise 1 – </a:t>
            </a:r>
            <a:r>
              <a:rPr lang="en-US" dirty="0" smtClean="0"/>
              <a:t>Q6 </a:t>
            </a:r>
            <a:r>
              <a:rPr lang="en-US" dirty="0"/>
              <a:t>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How many DAT packets are needed to transfer 1,000,000 messages? (One DAT packet can carry 10 characters)</a:t>
            </a:r>
          </a:p>
          <a:p>
            <a:r>
              <a:rPr lang="en-US" sz="3000" dirty="0" smtClean="0"/>
              <a:t>Each DAT packet will contain overhead of 9 characters per each message in addition to actual message content</a:t>
            </a:r>
          </a:p>
          <a:p>
            <a:r>
              <a:rPr lang="en-US" sz="3000" dirty="0" smtClean="0"/>
              <a:t>Each ACK packet will </a:t>
            </a:r>
            <a:r>
              <a:rPr lang="en-US" sz="3000" dirty="0"/>
              <a:t>contain </a:t>
            </a:r>
            <a:r>
              <a:rPr lang="en-US" sz="3000" dirty="0" smtClean="0"/>
              <a:t>overhead of 9 character and no message content</a:t>
            </a:r>
            <a:endParaRPr lang="en-US" sz="30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5167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Exercise 2 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718" y="2474220"/>
            <a:ext cx="4328777" cy="3550605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19" y="2460505"/>
            <a:ext cx="4449281" cy="3556830"/>
          </a:xfrm>
        </p:spPr>
      </p:pic>
    </p:spTree>
    <p:extLst>
      <p:ext uri="{BB962C8B-B14F-4D97-AF65-F5344CB8AC3E}">
        <p14:creationId xmlns:p14="http://schemas.microsoft.com/office/powerpoint/2010/main" val="7355482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82132"/>
            <a:ext cx="10210800" cy="1303867"/>
          </a:xfrm>
        </p:spPr>
        <p:txBody>
          <a:bodyPr/>
          <a:lstStyle/>
          <a:p>
            <a:r>
              <a:rPr lang="en-US" dirty="0" smtClean="0"/>
              <a:t>Additional 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Networks (Chapter 15) </a:t>
            </a:r>
            <a:r>
              <a:rPr lang="en-US" sz="3000" dirty="0" smtClean="0"/>
              <a:t>Slides by Ms. Karen Meyer discussed in Class</a:t>
            </a:r>
          </a:p>
          <a:p>
            <a:r>
              <a:rPr lang="en-US" sz="3000" dirty="0"/>
              <a:t>Chapter </a:t>
            </a:r>
            <a:r>
              <a:rPr lang="en-US" sz="3000" dirty="0" smtClean="0"/>
              <a:t>15 </a:t>
            </a:r>
            <a:r>
              <a:rPr lang="en-US" sz="3000" dirty="0"/>
              <a:t>of Course Text Book – </a:t>
            </a:r>
            <a:r>
              <a:rPr lang="en-US" sz="3000" dirty="0"/>
              <a:t>Communications Layer</a:t>
            </a:r>
            <a:endParaRPr lang="en-US" sz="30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76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4800" dirty="0" smtClean="0"/>
              <a:t>If you have questions, please raise your hand, Colin or myself will come to help you</a:t>
            </a:r>
            <a:endParaRPr lang="en-US" sz="4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CS 1150 – Lab </a:t>
            </a:r>
            <a:r>
              <a:rPr lang="es-ES" dirty="0" smtClean="0"/>
              <a:t>15 </a:t>
            </a:r>
            <a:r>
              <a:rPr lang="es-ES" dirty="0"/>
              <a:t>– </a:t>
            </a:r>
            <a:r>
              <a:rPr lang="es-ES" dirty="0" smtClean="0"/>
              <a:t>Networking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470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13334</TotalTime>
  <Words>810</Words>
  <Application>Microsoft Office PowerPoint</Application>
  <PresentationFormat>Widescreen</PresentationFormat>
  <Paragraphs>125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Garamond</vt:lpstr>
      <vt:lpstr>Organic</vt:lpstr>
      <vt:lpstr>CS 1150 – Lab #15 – Networking</vt:lpstr>
      <vt:lpstr>TA Labs, Office Hours Laboratory Polices</vt:lpstr>
      <vt:lpstr>Lab # 15 Overview</vt:lpstr>
      <vt:lpstr>How to Submit Lab # 15 </vt:lpstr>
      <vt:lpstr>What is a Computer Network?</vt:lpstr>
      <vt:lpstr>Network Protocols</vt:lpstr>
      <vt:lpstr>Network Topology</vt:lpstr>
      <vt:lpstr>Routing in a Network</vt:lpstr>
      <vt:lpstr>TCP/IP Applet</vt:lpstr>
      <vt:lpstr>TCP/IP Applet Cont.</vt:lpstr>
      <vt:lpstr>TCP/IP Applet Cont.</vt:lpstr>
      <vt:lpstr>TCP/IP Applet Cont.</vt:lpstr>
      <vt:lpstr>Exercise 1 – Q4 Help</vt:lpstr>
      <vt:lpstr>Exercise 1 – Q5 Help</vt:lpstr>
      <vt:lpstr>Exercise 1 – Q6 Help</vt:lpstr>
      <vt:lpstr>Exercise 2 Help</vt:lpstr>
      <vt:lpstr>Additional Help</vt:lpstr>
      <vt:lpstr>Questions 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1150 – Lab #2 – Exploring Number Systems</dc:title>
  <dc:creator>student</dc:creator>
  <cp:lastModifiedBy>student</cp:lastModifiedBy>
  <cp:revision>151</cp:revision>
  <dcterms:created xsi:type="dcterms:W3CDTF">2013-09-09T12:09:59Z</dcterms:created>
  <dcterms:modified xsi:type="dcterms:W3CDTF">2013-11-15T15:41:02Z</dcterms:modified>
</cp:coreProperties>
</file>