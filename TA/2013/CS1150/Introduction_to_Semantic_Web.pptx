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5" r:id="rId7"/>
    <p:sldId id="260" r:id="rId8"/>
    <p:sldId id="263" r:id="rId9"/>
    <p:sldId id="266" r:id="rId10"/>
    <p:sldId id="264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FB1AC2-50E3-41A8-8F72-7B7823622D76}" type="datetimeFigureOut">
              <a:rPr lang="en-US" smtClean="0"/>
              <a:t>11/8/2013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70E94-3165-4CF7-9C43-154E91424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95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D70E94-3165-4CF7-9C43-154E914242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29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D70E94-3165-4CF7-9C43-154E914242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96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D70E94-3165-4CF7-9C43-154E914242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27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26704C0-71C5-4E0F-A40B-5084EF32ED48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1CCAB-6175-4B3D-9281-B1CB3DA5A47B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A9F9B-31AF-42BE-8A78-AFA31B876E68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78AC-AEB6-463D-A5F2-E87E54F6FC6C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FB8E-1D43-4951-B8D2-3B909D77DEE1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150D-C093-4F4C-9CCB-7586BE9E3866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A7944-AA0B-4AC3-B87C-F6EBED1A3D8F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62323-DC3B-4812-8C60-B6994CC6B834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F38A3-A2BA-4626-9F46-C11EF4D51D15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B9197-B5BF-4493-AE80-53381929F20E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6AC70-86E6-4723-8422-211F0A496670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0485-BCC2-40EA-9B9D-827168772103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32FF-8372-4FAD-9F3A-1CB5EF551B1B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1B8F7-53B7-4F85-934C-9E83AAA9C672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ED98-9A4E-4B23-863E-30C538E86BD6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8304C-BB63-48C1-9C93-7AC06CFEDDA4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D1B9-3872-4D95-AFAA-D8DDA88F5D52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F35DFCF-54BF-4B40-A195-6D6F6404CE1B}" type="datetime1">
              <a:rPr lang="en-US" smtClean="0"/>
              <a:t>11/8/2013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Introduction to Semantic Web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ransition spd="slow">
    <p:push dir="u"/>
  </p:transition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semanticweb.org/wiki/Main_Pag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evolvedmommy.com/web2-0/" TargetMode="External"/><Relationship Id="rId4" Type="http://schemas.openxmlformats.org/officeDocument/2006/relationships/hyperlink" Target="http://blogs.voices.com/thebiz/2006/09/web_20_definition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electricpig.co.uk/2011/12/16/iphone-4s-jailbreak-incredible-siri-hack-lets-you-shout-settings/" TargetMode="External"/><Relationship Id="rId4" Type="http://schemas.openxmlformats.org/officeDocument/2006/relationships/hyperlink" Target="http://www.gadgetsmagazine.com.ph/good-finds/ibms-watson-crushes-human-opposition-in-jeopardy-robot-uprising-not-far-behind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goo.gl/zB8BW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manticfocus.com/blog/entry/title/introduction-to-the-semantic-web-vision-and-technologies-part-1-overview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tyofcarver.com/2013/09/thank-you-steamboat-days-committee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Semantic Web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CS 1150 – Introduction to computer science</a:t>
            </a:r>
          </a:p>
          <a:p>
            <a:endParaRPr lang="en-US" dirty="0"/>
          </a:p>
          <a:p>
            <a:r>
              <a:rPr lang="en-US" dirty="0" smtClean="0"/>
              <a:t>By - </a:t>
            </a:r>
            <a:r>
              <a:rPr lang="en-US" dirty="0"/>
              <a:t>Sanjaya Wijeratne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5078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What is Semantic Web?</a:t>
            </a:r>
          </a:p>
          <a:p>
            <a:r>
              <a:rPr lang="en-US" sz="3200" dirty="0" smtClean="0"/>
              <a:t>Evolution of the Web</a:t>
            </a:r>
          </a:p>
          <a:p>
            <a:r>
              <a:rPr lang="en-US" sz="3200" dirty="0" smtClean="0"/>
              <a:t>Semantic Web Technologies</a:t>
            </a:r>
          </a:p>
          <a:p>
            <a:r>
              <a:rPr lang="en-US" sz="3200" dirty="0" smtClean="0"/>
              <a:t>Applications of Semantic Web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876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0354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Semantic Web?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The Semantic Web is the extension of the World Wide Web that enables people to </a:t>
            </a:r>
            <a:r>
              <a:rPr lang="en-US" sz="2800" b="1" dirty="0">
                <a:solidFill>
                  <a:srgbClr val="FFC000"/>
                </a:solidFill>
              </a:rPr>
              <a:t>share content beyond the boundaries of applications and websites</a:t>
            </a:r>
            <a:r>
              <a:rPr lang="en-US" sz="2800" dirty="0"/>
              <a:t>. It has been described in rather different ways: as a </a:t>
            </a:r>
            <a:r>
              <a:rPr lang="en-US" sz="2800" b="1" dirty="0">
                <a:solidFill>
                  <a:srgbClr val="FFC000"/>
                </a:solidFill>
              </a:rPr>
              <a:t>utopic vision</a:t>
            </a:r>
            <a:r>
              <a:rPr lang="en-US" sz="2800" dirty="0"/>
              <a:t>, as a </a:t>
            </a:r>
            <a:r>
              <a:rPr lang="en-US" sz="2800" b="1" dirty="0">
                <a:solidFill>
                  <a:srgbClr val="FFC000"/>
                </a:solidFill>
              </a:rPr>
              <a:t>web of data</a:t>
            </a:r>
            <a:r>
              <a:rPr lang="en-US" sz="2800" dirty="0"/>
              <a:t>, or merely as a </a:t>
            </a:r>
            <a:r>
              <a:rPr lang="en-US" sz="2800" b="1" dirty="0">
                <a:solidFill>
                  <a:srgbClr val="FFC000"/>
                </a:solidFill>
              </a:rPr>
              <a:t>natural paradigm shift in our daily use of the Web</a:t>
            </a:r>
            <a:r>
              <a:rPr lang="en-US" sz="2800" dirty="0"/>
              <a:t>. Most of all, the Semantic Web has inspired and engaged many people to create </a:t>
            </a:r>
            <a:r>
              <a:rPr lang="en-US" sz="2800" b="1" dirty="0">
                <a:solidFill>
                  <a:srgbClr val="FFC000"/>
                </a:solidFill>
              </a:rPr>
              <a:t>innovative semantic technologies and applications</a:t>
            </a:r>
            <a:r>
              <a:rPr lang="en-US" sz="2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07827" y="5907045"/>
            <a:ext cx="29338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Source – </a:t>
            </a:r>
            <a:r>
              <a:rPr lang="en-US" sz="1050" dirty="0">
                <a:hlinkClick r:id="rId2"/>
              </a:rPr>
              <a:t>http://semanticweb.org/wiki/Main_Page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601843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622507"/>
            <a:ext cx="5118100" cy="572064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423" y="636085"/>
            <a:ext cx="6100243" cy="57070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1800" y="6489784"/>
            <a:ext cx="42643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Source – </a:t>
            </a:r>
            <a:r>
              <a:rPr lang="en-US" sz="1050" dirty="0">
                <a:hlinkClick r:id="rId4"/>
              </a:rPr>
              <a:t>http://blogs.voices.com/thebiz/2006/09/web_20_definition.html</a:t>
            </a:r>
            <a:endParaRPr lang="en-US" sz="1050" dirty="0"/>
          </a:p>
        </p:txBody>
      </p:sp>
      <p:sp>
        <p:nvSpPr>
          <p:cNvPr id="18" name="TextBox 17"/>
          <p:cNvSpPr txBox="1"/>
          <p:nvPr/>
        </p:nvSpPr>
        <p:spPr>
          <a:xfrm>
            <a:off x="5805423" y="6489784"/>
            <a:ext cx="30460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Source – </a:t>
            </a:r>
            <a:r>
              <a:rPr lang="en-US" sz="1050" dirty="0">
                <a:hlinkClick r:id="rId5"/>
              </a:rPr>
              <a:t>http://www.evolvedmommy.com/web2-0/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488161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4" y="104775"/>
            <a:ext cx="5715000" cy="3524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899" y="1563384"/>
            <a:ext cx="6502401" cy="4854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274" y="6604084"/>
            <a:ext cx="828784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Source – </a:t>
            </a:r>
            <a:r>
              <a:rPr lang="en-US" sz="1050" dirty="0">
                <a:hlinkClick r:id="rId4"/>
              </a:rPr>
              <a:t>http://www.gadgetsmagazine.com.ph/good-finds/ibms-watson-crushes-human-opposition-in-jeopardy-robot-uprising-not-far-behind.html</a:t>
            </a:r>
            <a:endParaRPr lang="en-US" sz="1050" dirty="0"/>
          </a:p>
        </p:txBody>
      </p:sp>
      <p:sp>
        <p:nvSpPr>
          <p:cNvPr id="8" name="TextBox 7"/>
          <p:cNvSpPr txBox="1"/>
          <p:nvPr/>
        </p:nvSpPr>
        <p:spPr>
          <a:xfrm>
            <a:off x="71274" y="6400884"/>
            <a:ext cx="65149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Source – </a:t>
            </a:r>
            <a:r>
              <a:rPr lang="en-US" sz="1050" dirty="0">
                <a:hlinkClick r:id="rId5"/>
              </a:rPr>
              <a:t>http://www.electricpig.co.uk/2011/12/16/iphone-4s-jailbreak-incredible-siri-hack-lets-you-shout-settings/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291908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701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– web 1.0, web 2.0 and web 3.0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217178"/>
              </p:ext>
            </p:extLst>
          </p:nvPr>
        </p:nvGraphicFramePr>
        <p:xfrm>
          <a:off x="800101" y="2126579"/>
          <a:ext cx="10261600" cy="349234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47170"/>
                <a:gridCol w="3070929"/>
                <a:gridCol w="2571607"/>
                <a:gridCol w="2571894"/>
              </a:tblGrid>
              <a:tr h="439019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Web</a:t>
                      </a:r>
                      <a:r>
                        <a:rPr lang="en-US" sz="2400" baseline="0" dirty="0" smtClean="0"/>
                        <a:t> 1.0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Web 2.0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Web 3.0</a:t>
                      </a:r>
                      <a:endParaRPr lang="en-US" sz="2400" dirty="0"/>
                    </a:p>
                  </a:txBody>
                  <a:tcPr/>
                </a:tc>
              </a:tr>
              <a:tr h="438746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Page Content</a:t>
                      </a:r>
                      <a:endParaRPr lang="en-US" b="1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Mostly Read Only (Static)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Widely Read-Write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Portable and Personal 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38746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Web Page Types</a:t>
                      </a:r>
                      <a:endParaRPr lang="en-US" b="1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Mostly Home/Company Pages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Blogs, Wiki, Social Media,</a:t>
                      </a:r>
                      <a:r>
                        <a:rPr lang="en-US" baseline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Information Sharing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Streaming Data with Real-time updates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38746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Application Types</a:t>
                      </a:r>
                      <a:endParaRPr lang="en-US" b="1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Web Forms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Web Applications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Smart Applications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38746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Content Usage</a:t>
                      </a:r>
                      <a:endParaRPr lang="en-US" b="1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Publishers Owned Content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Communities  Shared Content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Applications</a:t>
                      </a:r>
                      <a:r>
                        <a:rPr lang="en-US" baseline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Shared  and Consolidated Content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38746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Knowledge</a:t>
                      </a:r>
                      <a:r>
                        <a:rPr lang="en-US" b="1" baseline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Seeking</a:t>
                      </a:r>
                      <a:endParaRPr lang="en-US" b="1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Encyclopedias (Eg – Britannica)</a:t>
                      </a:r>
                      <a:r>
                        <a:rPr lang="en-US" baseline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Social</a:t>
                      </a:r>
                      <a:r>
                        <a:rPr lang="en-US" baseline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Knowledge-bases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Web</a:t>
                      </a:r>
                      <a:r>
                        <a:rPr lang="en-US" baseline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of Data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38746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Technologies</a:t>
                      </a:r>
                      <a:endParaRPr lang="en-US" b="1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HTML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XML/RSS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RDF/RDFS/OWL</a:t>
                      </a:r>
                      <a:endParaRPr lang="en-US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87936" y="5904468"/>
            <a:ext cx="5527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Semantic Web Introduction Video </a:t>
            </a:r>
            <a:r>
              <a:rPr lang="en-US" dirty="0"/>
              <a:t>–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goo.gl/zB8BW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5901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1298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-12700"/>
            <a:ext cx="12204700" cy="68707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8676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Semantic web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953933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OWL (</a:t>
            </a:r>
            <a:r>
              <a:rPr lang="en-US" sz="2800" b="1" dirty="0" smtClean="0">
                <a:solidFill>
                  <a:srgbClr val="FFC000"/>
                </a:solidFill>
              </a:rPr>
              <a:t>W</a:t>
            </a:r>
            <a:r>
              <a:rPr lang="en-US" sz="2800" dirty="0" smtClean="0"/>
              <a:t>eb </a:t>
            </a:r>
            <a:r>
              <a:rPr lang="en-US" sz="2800" b="1" dirty="0" smtClean="0">
                <a:solidFill>
                  <a:srgbClr val="FFC000"/>
                </a:solidFill>
              </a:rPr>
              <a:t>O</a:t>
            </a:r>
            <a:r>
              <a:rPr lang="en-US" sz="2800" dirty="0" smtClean="0"/>
              <a:t>ntology </a:t>
            </a:r>
            <a:r>
              <a:rPr lang="en-US" sz="2800" b="1" dirty="0" smtClean="0">
                <a:solidFill>
                  <a:srgbClr val="FFC000"/>
                </a:solidFill>
              </a:rPr>
              <a:t>L</a:t>
            </a:r>
            <a:r>
              <a:rPr lang="en-US" sz="2800" dirty="0" smtClean="0"/>
              <a:t>anguage) – Use to Represent</a:t>
            </a:r>
          </a:p>
          <a:p>
            <a:pPr marL="0" indent="0">
              <a:buNone/>
            </a:pPr>
            <a:r>
              <a:rPr lang="en-US" sz="2800" dirty="0" smtClean="0"/>
              <a:t>    Knowledge in Semantic Web Applications</a:t>
            </a:r>
          </a:p>
          <a:p>
            <a:pPr lvl="1"/>
            <a:r>
              <a:rPr lang="en-US" sz="2600" dirty="0" smtClean="0"/>
              <a:t> </a:t>
            </a:r>
            <a:r>
              <a:rPr lang="en-US" sz="2400" dirty="0" smtClean="0"/>
              <a:t>Eg – Egg is a Concept. Egg has 6g of Protein. </a:t>
            </a:r>
          </a:p>
          <a:p>
            <a:r>
              <a:rPr lang="en-US" sz="2800" dirty="0" smtClean="0"/>
              <a:t>RDF/RDFS (</a:t>
            </a:r>
            <a:r>
              <a:rPr lang="en-US" sz="2800" b="1" dirty="0" smtClean="0">
                <a:solidFill>
                  <a:srgbClr val="FFC000"/>
                </a:solidFill>
              </a:rPr>
              <a:t>R</a:t>
            </a:r>
            <a:r>
              <a:rPr lang="en-US" sz="2800" dirty="0" smtClean="0"/>
              <a:t>esource </a:t>
            </a:r>
            <a:r>
              <a:rPr lang="en-US" sz="2800" b="1" dirty="0" smtClean="0">
                <a:solidFill>
                  <a:srgbClr val="FFC000"/>
                </a:solidFill>
              </a:rPr>
              <a:t>D</a:t>
            </a:r>
            <a:r>
              <a:rPr lang="en-US" sz="2800" dirty="0" smtClean="0"/>
              <a:t>escription </a:t>
            </a:r>
            <a:r>
              <a:rPr lang="en-US" sz="2800" b="1" dirty="0" smtClean="0">
                <a:solidFill>
                  <a:srgbClr val="FFC000"/>
                </a:solidFill>
              </a:rPr>
              <a:t>F</a:t>
            </a:r>
            <a:r>
              <a:rPr lang="en-US" sz="2800" dirty="0" smtClean="0"/>
              <a:t>ramework) – Data Modelling Language for Semantic Web. All data are stored as RDF triples</a:t>
            </a:r>
          </a:p>
          <a:p>
            <a:pPr lvl="1"/>
            <a:r>
              <a:rPr lang="en-US" sz="2600" dirty="0" smtClean="0"/>
              <a:t>Eg – &lt;</a:t>
            </a:r>
            <a:r>
              <a:rPr lang="en-US" sz="2600" dirty="0" err="1" smtClean="0"/>
              <a:t>domain:Egg</a:t>
            </a:r>
            <a:r>
              <a:rPr lang="en-US" sz="2600" dirty="0" smtClean="0"/>
              <a:t>&gt;   &lt; </a:t>
            </a:r>
            <a:r>
              <a:rPr lang="en-US" sz="2600" dirty="0" err="1" smtClean="0"/>
              <a:t>domain:has</a:t>
            </a:r>
            <a:r>
              <a:rPr lang="en-US" sz="2600" dirty="0" smtClean="0"/>
              <a:t>&gt;   &lt;</a:t>
            </a:r>
            <a:r>
              <a:rPr lang="en-US" sz="2600" dirty="0" err="1" smtClean="0"/>
              <a:t>domain:Protein</a:t>
            </a:r>
            <a:r>
              <a:rPr lang="en-US" sz="2600" dirty="0" smtClean="0"/>
              <a:t>&gt; </a:t>
            </a:r>
          </a:p>
          <a:p>
            <a:r>
              <a:rPr lang="en-US" sz="2800" dirty="0"/>
              <a:t>SPARQL (</a:t>
            </a:r>
            <a:r>
              <a:rPr lang="en-US" sz="2800" b="1" dirty="0">
                <a:solidFill>
                  <a:srgbClr val="FFC000"/>
                </a:solidFill>
              </a:rPr>
              <a:t>SPA</a:t>
            </a:r>
            <a:r>
              <a:rPr lang="en-US" sz="2800" dirty="0"/>
              <a:t>RQL Protocol and </a:t>
            </a:r>
            <a:r>
              <a:rPr lang="en-US" sz="2800" b="1" dirty="0">
                <a:solidFill>
                  <a:srgbClr val="FFC000"/>
                </a:solidFill>
              </a:rPr>
              <a:t>R</a:t>
            </a:r>
            <a:r>
              <a:rPr lang="en-US" sz="2800" dirty="0"/>
              <a:t>DF </a:t>
            </a:r>
            <a:r>
              <a:rPr lang="en-US" sz="2800" b="1" dirty="0">
                <a:solidFill>
                  <a:srgbClr val="FFC000"/>
                </a:solidFill>
              </a:rPr>
              <a:t>Q</a:t>
            </a:r>
            <a:r>
              <a:rPr lang="en-US" sz="2800" dirty="0"/>
              <a:t>uery </a:t>
            </a:r>
            <a:r>
              <a:rPr lang="en-US" sz="2800" b="1" dirty="0" smtClean="0">
                <a:solidFill>
                  <a:srgbClr val="FFC000"/>
                </a:solidFill>
              </a:rPr>
              <a:t>L</a:t>
            </a:r>
            <a:r>
              <a:rPr lang="en-US" sz="2800" dirty="0" smtClean="0"/>
              <a:t>anguage) </a:t>
            </a:r>
            <a:r>
              <a:rPr lang="en-US" sz="2800" dirty="0"/>
              <a:t>– </a:t>
            </a:r>
            <a:r>
              <a:rPr lang="en-US" sz="2800" dirty="0" smtClean="0"/>
              <a:t>Used to Query RDF Datasets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129" y="259459"/>
            <a:ext cx="3147861" cy="33080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6426200"/>
            <a:ext cx="757290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Source – </a:t>
            </a:r>
            <a:r>
              <a:rPr lang="en-US" sz="1050" dirty="0">
                <a:hlinkClick r:id="rId3"/>
              </a:rPr>
              <a:t>http://www.semanticfocus.com/blog/entry/title/introduction-to-the-semantic-web-vision-and-technologies-part-1-overview/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784103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semantic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Widely Known Applications</a:t>
            </a:r>
          </a:p>
          <a:p>
            <a:pPr lvl="1"/>
            <a:r>
              <a:rPr lang="en-US" sz="3000" dirty="0" smtClean="0"/>
              <a:t>Google Knowledge Graph</a:t>
            </a:r>
          </a:p>
          <a:p>
            <a:pPr lvl="1"/>
            <a:r>
              <a:rPr lang="en-US" sz="3000" dirty="0" smtClean="0"/>
              <a:t>IBM Watson</a:t>
            </a:r>
          </a:p>
          <a:p>
            <a:pPr lvl="1"/>
            <a:r>
              <a:rPr lang="en-US" sz="3000" dirty="0" smtClean="0"/>
              <a:t>Apple’s SIRI</a:t>
            </a:r>
          </a:p>
          <a:p>
            <a:r>
              <a:rPr lang="en-US" sz="3200" dirty="0" smtClean="0"/>
              <a:t>Developed at Kno.e.sis</a:t>
            </a:r>
          </a:p>
          <a:p>
            <a:pPr lvl="1"/>
            <a:r>
              <a:rPr lang="en-US" sz="3000" dirty="0" smtClean="0"/>
              <a:t>Twitris and many others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679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32602" y="6604084"/>
            <a:ext cx="505939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Source –  </a:t>
            </a:r>
            <a:r>
              <a:rPr lang="en-US" sz="1050" dirty="0">
                <a:hlinkClick r:id="rId3"/>
              </a:rPr>
              <a:t>http://www.cityofcarver.com/2013/09/thank-you-steamboat-days-committee/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6609026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TC103457452[[fn=Celestial]]</Template>
  <TotalTime>196</TotalTime>
  <Words>367</Words>
  <Application>Microsoft Office PowerPoint</Application>
  <PresentationFormat>Widescreen</PresentationFormat>
  <Paragraphs>75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Celestial</vt:lpstr>
      <vt:lpstr>Introduction to Semantic Web</vt:lpstr>
      <vt:lpstr>Overview</vt:lpstr>
      <vt:lpstr>PowerPoint Presentation</vt:lpstr>
      <vt:lpstr>What is Semantic Web?</vt:lpstr>
      <vt:lpstr>PowerPoint Presentation</vt:lpstr>
      <vt:lpstr>PowerPoint Presentation</vt:lpstr>
      <vt:lpstr>PowerPoint Presentation</vt:lpstr>
      <vt:lpstr>Comparison – web 1.0, web 2.0 and web 3.0</vt:lpstr>
      <vt:lpstr>PowerPoint Presentation</vt:lpstr>
      <vt:lpstr>PowerPoint Presentation</vt:lpstr>
      <vt:lpstr>Semantic web technologies</vt:lpstr>
      <vt:lpstr>Applications of semantic web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Semantic Web</dc:title>
  <dc:creator>student</dc:creator>
  <cp:lastModifiedBy>student</cp:lastModifiedBy>
  <cp:revision>36</cp:revision>
  <dcterms:created xsi:type="dcterms:W3CDTF">2013-11-06T14:38:31Z</dcterms:created>
  <dcterms:modified xsi:type="dcterms:W3CDTF">2013-11-08T14:32:14Z</dcterms:modified>
</cp:coreProperties>
</file>