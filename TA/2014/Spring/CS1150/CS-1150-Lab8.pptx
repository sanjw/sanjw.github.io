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7"/>
  </p:notesMasterIdLst>
  <p:sldIdLst>
    <p:sldId id="256" r:id="rId2"/>
    <p:sldId id="295" r:id="rId3"/>
    <p:sldId id="257" r:id="rId4"/>
    <p:sldId id="268" r:id="rId5"/>
    <p:sldId id="290" r:id="rId6"/>
    <p:sldId id="293" r:id="rId7"/>
    <p:sldId id="284" r:id="rId8"/>
    <p:sldId id="285" r:id="rId9"/>
    <p:sldId id="286" r:id="rId10"/>
    <p:sldId id="287" r:id="rId11"/>
    <p:sldId id="292" r:id="rId12"/>
    <p:sldId id="288" r:id="rId13"/>
    <p:sldId id="289" r:id="rId14"/>
    <p:sldId id="294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913868-69B1-49D4-AC12-72EBE554F52A}" type="datetimeFigureOut">
              <a:rPr lang="en-US" smtClean="0"/>
              <a:t>2/16/2014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9F786C-A293-4201-B9C0-D0C5BE35C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206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9F786C-A293-4201-B9C0-D0C5BE35C33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886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114FF61A-096B-4ACC-9047-613DE7167064}" type="datetime1">
              <a:rPr lang="en-US" smtClean="0"/>
              <a:t>2/16/2014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827ED-A3A2-42F2-9D3C-AD26E709CEA1}" type="datetime1">
              <a:rPr lang="en-US" smtClean="0"/>
              <a:t>2/16/2014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22AD8-8288-404A-9459-8A274170FCB1}" type="datetime1">
              <a:rPr lang="en-US" smtClean="0"/>
              <a:t>2/16/2014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B23D6-372A-4D6F-88AE-B5725F2A5329}" type="datetime1">
              <a:rPr lang="en-US" smtClean="0"/>
              <a:t>2/16/2014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CE645-F1A4-4824-9539-C88415E5AF9F}" type="datetime1">
              <a:rPr lang="en-US" smtClean="0"/>
              <a:t>2/16/2014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2425E-FA51-4380-90D9-FC52469EBB7F}" type="datetime1">
              <a:rPr lang="en-US" smtClean="0"/>
              <a:t>2/16/2014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6B73D-B680-47CD-B2C3-E78687C23558}" type="datetime1">
              <a:rPr lang="en-US" smtClean="0"/>
              <a:t>2/16/2014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AEE0E-B558-46EB-9D93-461202666F38}" type="datetime1">
              <a:rPr lang="en-US" smtClean="0"/>
              <a:t>2/16/2014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0753F-683B-40AA-8AF9-C87935C56215}" type="datetime1">
              <a:rPr lang="en-US" smtClean="0"/>
              <a:t>2/16/2014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19783-A5DD-49F7-92FF-1871D119E57E}" type="datetime1">
              <a:rPr lang="en-US" smtClean="0"/>
              <a:t>2/16/2014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6C348-74BF-44B1-84CD-0D4D3D31186D}" type="datetime1">
              <a:rPr lang="en-US" smtClean="0"/>
              <a:t>2/16/2014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612BD-51E1-437C-A0D0-E2E887370D9A}" type="datetime1">
              <a:rPr lang="en-US" smtClean="0"/>
              <a:t>2/16/2014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593F7-F63D-4FAB-9C50-ED9929F6F703}" type="datetime1">
              <a:rPr lang="en-US" smtClean="0"/>
              <a:t>2/16/2014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41D91-F438-46DF-A32B-FB52C76F8BBD}" type="datetime1">
              <a:rPr lang="en-US" smtClean="0"/>
              <a:t>2/16/2014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5AB03-E250-4387-8B3C-9E42EECCE70C}" type="datetime1">
              <a:rPr lang="en-US" smtClean="0"/>
              <a:t>2/16/2014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2DF5D-E689-472C-BC94-5BE32A3F0629}" type="datetime1">
              <a:rPr lang="en-US" smtClean="0"/>
              <a:t>2/16/2014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46424-E59A-4C5D-B6D2-C0D70A2558E5}" type="datetime1">
              <a:rPr lang="en-US" smtClean="0"/>
              <a:t>2/16/2014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C46D926-8CAD-420B-9CAE-05AE90F77374}" type="datetime1">
              <a:rPr lang="en-US" smtClean="0"/>
              <a:t>2/16/2014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wijeratne.2@wright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knoesis.org/researchers/sanjaya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wijeratne.2@wright.edu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://trycatch22.com/blog/the-computer-architecture-analogy-part-4-assembly-programming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CS 1150 </a:t>
            </a:r>
            <a:r>
              <a:rPr lang="en-US" sz="4000" dirty="0" smtClean="0"/>
              <a:t>– Lab #8 – </a:t>
            </a:r>
            <a:r>
              <a:rPr lang="en-US" sz="4000" dirty="0"/>
              <a:t>Using Algorithms for Painting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TA – Sanjaya Wijeratne</a:t>
            </a:r>
          </a:p>
          <a:p>
            <a:r>
              <a:rPr lang="en-US" dirty="0" smtClean="0"/>
              <a:t>E-mail – </a:t>
            </a:r>
            <a:r>
              <a:rPr lang="en-US" dirty="0" smtClean="0">
                <a:hlinkClick r:id="rId3"/>
              </a:rPr>
              <a:t>wijeratne.2@wright.edu</a:t>
            </a:r>
            <a:endParaRPr lang="en-US" dirty="0"/>
          </a:p>
          <a:p>
            <a:r>
              <a:rPr lang="en-US" dirty="0" smtClean="0"/>
              <a:t>Web Page - </a:t>
            </a:r>
            <a:r>
              <a:rPr lang="en-US" dirty="0">
                <a:hlinkClick r:id="rId4"/>
              </a:rPr>
              <a:t>http://knoesis.org/researchers/sanjaya/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96838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 Labs, Office Hours Laboratory </a:t>
            </a:r>
            <a:r>
              <a:rPr lang="en-US" dirty="0"/>
              <a:t>Polices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Lab Hours</a:t>
            </a:r>
          </a:p>
          <a:p>
            <a:pPr lvl="1"/>
            <a:r>
              <a:rPr lang="en-US" dirty="0" smtClean="0"/>
              <a:t> 2:30 PM </a:t>
            </a:r>
            <a:r>
              <a:rPr lang="en-US" dirty="0"/>
              <a:t>- 4:20 </a:t>
            </a:r>
            <a:r>
              <a:rPr lang="en-US" dirty="0" smtClean="0"/>
              <a:t>PM, </a:t>
            </a:r>
            <a:r>
              <a:rPr lang="en-US" dirty="0"/>
              <a:t>Monday </a:t>
            </a:r>
            <a:r>
              <a:rPr lang="en-US" dirty="0" smtClean="0"/>
              <a:t>at </a:t>
            </a:r>
            <a:r>
              <a:rPr lang="en-US" dirty="0"/>
              <a:t>Room 320 - </a:t>
            </a:r>
            <a:r>
              <a:rPr lang="en-US" dirty="0" err="1"/>
              <a:t>Oelman</a:t>
            </a:r>
            <a:r>
              <a:rPr lang="en-US" dirty="0"/>
              <a:t> </a:t>
            </a:r>
            <a:r>
              <a:rPr lang="en-US" dirty="0" smtClean="0"/>
              <a:t>Hall</a:t>
            </a:r>
          </a:p>
          <a:p>
            <a:r>
              <a:rPr lang="en-US" dirty="0" smtClean="0"/>
              <a:t>TA Office Hours</a:t>
            </a:r>
          </a:p>
          <a:p>
            <a:pPr lvl="1"/>
            <a:r>
              <a:rPr lang="en-US" dirty="0" smtClean="0"/>
              <a:t>4:45 PM </a:t>
            </a:r>
            <a:r>
              <a:rPr lang="en-US" dirty="0"/>
              <a:t>- </a:t>
            </a:r>
            <a:r>
              <a:rPr lang="en-US" dirty="0" smtClean="0"/>
              <a:t>5:45 PM, </a:t>
            </a:r>
            <a:r>
              <a:rPr lang="en-US" dirty="0"/>
              <a:t>Monday </a:t>
            </a:r>
            <a:r>
              <a:rPr lang="en-US" dirty="0" smtClean="0"/>
              <a:t>at </a:t>
            </a:r>
            <a:r>
              <a:rPr lang="en-US" dirty="0"/>
              <a:t>Room 316 - Russ Engineer </a:t>
            </a:r>
            <a:r>
              <a:rPr lang="en-US" dirty="0" smtClean="0"/>
              <a:t>Center</a:t>
            </a:r>
          </a:p>
          <a:p>
            <a:pPr lvl="1"/>
            <a:r>
              <a:rPr lang="en-US" dirty="0" smtClean="0"/>
              <a:t>By appointment – Please email to </a:t>
            </a:r>
            <a:r>
              <a:rPr lang="en-US" dirty="0">
                <a:hlinkClick r:id="rId2"/>
              </a:rPr>
              <a:t>wijeratne.2@wright.edu</a:t>
            </a:r>
            <a:endParaRPr lang="en-US" dirty="0"/>
          </a:p>
          <a:p>
            <a:r>
              <a:rPr lang="en-US" dirty="0" smtClean="0"/>
              <a:t>Refer </a:t>
            </a:r>
            <a:r>
              <a:rPr lang="en-US" dirty="0"/>
              <a:t>to CS 1150 </a:t>
            </a:r>
            <a:r>
              <a:rPr lang="en-US" dirty="0" smtClean="0"/>
              <a:t>Course Syllabus for Class and Laboratory Policies</a:t>
            </a:r>
          </a:p>
          <a:p>
            <a:pPr lvl="1"/>
            <a:r>
              <a:rPr lang="en-US" b="1" dirty="0" smtClean="0">
                <a:solidFill>
                  <a:srgbClr val="FF0000"/>
                </a:solidFill>
              </a:rPr>
              <a:t>Zero </a:t>
            </a:r>
            <a:r>
              <a:rPr lang="en-US" b="1" dirty="0">
                <a:solidFill>
                  <a:srgbClr val="FF0000"/>
                </a:solidFill>
              </a:rPr>
              <a:t>tolerance policy for </a:t>
            </a:r>
            <a:r>
              <a:rPr lang="en-US" b="1" dirty="0" smtClean="0">
                <a:solidFill>
                  <a:srgbClr val="FF0000"/>
                </a:solidFill>
              </a:rPr>
              <a:t>Academic Misconduct – All parties will get 0% marks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95401" y="5981879"/>
            <a:ext cx="7305900" cy="279400"/>
          </a:xfrm>
        </p:spPr>
        <p:txBody>
          <a:bodyPr/>
          <a:lstStyle/>
          <a:p>
            <a:r>
              <a:rPr lang="en-US" dirty="0" smtClean="0"/>
              <a:t>CS 1150 - Lab </a:t>
            </a:r>
            <a:r>
              <a:rPr lang="en-US" dirty="0" smtClean="0"/>
              <a:t>8 </a:t>
            </a:r>
            <a:r>
              <a:rPr lang="en-US" dirty="0" smtClean="0"/>
              <a:t>– </a:t>
            </a:r>
            <a:r>
              <a:rPr lang="en-US" dirty="0" smtClean="0"/>
              <a:t>Using Algorithms for Painting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6590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</a:t>
            </a:r>
            <a:r>
              <a:rPr lang="en-US" dirty="0" smtClean="0"/>
              <a:t>#8 </a:t>
            </a:r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18832"/>
            <a:ext cx="9601198" cy="3589868"/>
          </a:xfrm>
        </p:spPr>
        <p:txBody>
          <a:bodyPr>
            <a:normAutofit/>
          </a:bodyPr>
          <a:lstStyle/>
          <a:p>
            <a:r>
              <a:rPr lang="en-US" sz="3200" dirty="0" smtClean="0"/>
              <a:t>Learn How to use </a:t>
            </a:r>
            <a:r>
              <a:rPr lang="en-US" sz="3200" dirty="0" smtClean="0"/>
              <a:t>Palgo Applet </a:t>
            </a:r>
            <a:r>
              <a:rPr lang="en-US" sz="3200" dirty="0" smtClean="0"/>
              <a:t>and Palgo </a:t>
            </a:r>
            <a:r>
              <a:rPr lang="en-US" sz="3200" dirty="0" smtClean="0"/>
              <a:t>Applet’s Programming Language</a:t>
            </a:r>
            <a:endParaRPr lang="en-US" sz="3200" dirty="0" smtClean="0"/>
          </a:p>
          <a:p>
            <a:r>
              <a:rPr lang="en-US" sz="3200" b="1" dirty="0" smtClean="0"/>
              <a:t>Do Activities and Complete Exercises 1, 2, 3 and 4</a:t>
            </a:r>
          </a:p>
          <a:p>
            <a:r>
              <a:rPr lang="en-US" sz="3200" b="1" dirty="0" smtClean="0">
                <a:solidFill>
                  <a:srgbClr val="FF0000"/>
                </a:solidFill>
              </a:rPr>
              <a:t>Lab </a:t>
            </a:r>
            <a:r>
              <a:rPr lang="en-US" sz="3200" b="1" dirty="0" smtClean="0">
                <a:solidFill>
                  <a:srgbClr val="FF0000"/>
                </a:solidFill>
              </a:rPr>
              <a:t>#8 </a:t>
            </a:r>
            <a:r>
              <a:rPr lang="en-US" sz="3200" b="1" dirty="0">
                <a:solidFill>
                  <a:srgbClr val="FF0000"/>
                </a:solidFill>
              </a:rPr>
              <a:t>Due Date </a:t>
            </a:r>
            <a:r>
              <a:rPr lang="en-US" sz="3200" b="1" dirty="0" smtClean="0">
                <a:solidFill>
                  <a:srgbClr val="FF0000"/>
                </a:solidFill>
              </a:rPr>
              <a:t>– Feb 28, 2014 </a:t>
            </a:r>
            <a:r>
              <a:rPr lang="en-US" sz="3200" b="1" dirty="0">
                <a:solidFill>
                  <a:srgbClr val="FF0000"/>
                </a:solidFill>
              </a:rPr>
              <a:t>11:55 </a:t>
            </a:r>
            <a:r>
              <a:rPr lang="en-US" sz="3200" b="1" dirty="0" smtClean="0">
                <a:solidFill>
                  <a:srgbClr val="FF0000"/>
                </a:solidFill>
              </a:rPr>
              <a:t>AM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95401" y="5994758"/>
            <a:ext cx="7305900" cy="279400"/>
          </a:xfrm>
        </p:spPr>
        <p:txBody>
          <a:bodyPr/>
          <a:lstStyle/>
          <a:p>
            <a:r>
              <a:rPr lang="en-US" dirty="0" smtClean="0"/>
              <a:t>CS 1150 - Lab </a:t>
            </a:r>
            <a:r>
              <a:rPr lang="en-US" dirty="0" smtClean="0"/>
              <a:t>8 </a:t>
            </a:r>
            <a:r>
              <a:rPr lang="en-US" dirty="0" smtClean="0"/>
              <a:t>– </a:t>
            </a:r>
            <a:r>
              <a:rPr lang="en-US" dirty="0" smtClean="0"/>
              <a:t>Using Algorithms for Painting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5623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Submit Lab </a:t>
            </a:r>
            <a:r>
              <a:rPr lang="en-US" dirty="0" smtClean="0"/>
              <a:t>#8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2556932"/>
            <a:ext cx="9867899" cy="3318936"/>
          </a:xfrm>
        </p:spPr>
        <p:txBody>
          <a:bodyPr>
            <a:normAutofit/>
          </a:bodyPr>
          <a:lstStyle/>
          <a:p>
            <a:r>
              <a:rPr lang="en-US" dirty="0" smtClean="0"/>
              <a:t>Hard copy (Preferred)</a:t>
            </a:r>
          </a:p>
          <a:p>
            <a:pPr lvl="1"/>
            <a:r>
              <a:rPr lang="en-US" dirty="0" smtClean="0"/>
              <a:t>When you complete, hand it over to me</a:t>
            </a:r>
          </a:p>
          <a:p>
            <a:r>
              <a:rPr lang="en-US" dirty="0" smtClean="0"/>
              <a:t>Pilot</a:t>
            </a:r>
          </a:p>
          <a:p>
            <a:pPr lvl="1"/>
            <a:r>
              <a:rPr lang="en-US" dirty="0" smtClean="0"/>
              <a:t>Go to Pilot Course Page and Use Dropbox Submission Link to upload your files</a:t>
            </a:r>
          </a:p>
          <a:p>
            <a:r>
              <a:rPr lang="en-US" dirty="0" smtClean="0"/>
              <a:t>My Mailbox at CS Department </a:t>
            </a:r>
          </a:p>
          <a:p>
            <a:pPr lvl="1"/>
            <a:r>
              <a:rPr lang="en-US" dirty="0" smtClean="0"/>
              <a:t>Go to CS Department Front Desk and ask them to put your assignment </a:t>
            </a:r>
            <a:r>
              <a:rPr lang="en-US" dirty="0" smtClean="0"/>
              <a:t>in </a:t>
            </a:r>
            <a:r>
              <a:rPr lang="en-US" dirty="0" smtClean="0"/>
              <a:t>my mailbox </a:t>
            </a:r>
            <a:r>
              <a:rPr lang="en-US" dirty="0" smtClean="0"/>
              <a:t>   – </a:t>
            </a:r>
            <a:r>
              <a:rPr lang="en-US" dirty="0" smtClean="0"/>
              <a:t>Please write my name on your assignment (</a:t>
            </a:r>
            <a:r>
              <a:rPr lang="en-US" b="1" dirty="0" smtClean="0">
                <a:solidFill>
                  <a:srgbClr val="FF0000"/>
                </a:solidFill>
              </a:rPr>
              <a:t>TA – CS 1150 – Sanjaya Wijeratne</a:t>
            </a:r>
            <a:r>
              <a:rPr lang="en-US" dirty="0" smtClean="0"/>
              <a:t>)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95401" y="5981879"/>
            <a:ext cx="7305900" cy="279400"/>
          </a:xfrm>
        </p:spPr>
        <p:txBody>
          <a:bodyPr/>
          <a:lstStyle/>
          <a:p>
            <a:r>
              <a:rPr lang="en-US" dirty="0" smtClean="0"/>
              <a:t>CS 1150 - Lab </a:t>
            </a:r>
            <a:r>
              <a:rPr lang="en-US" dirty="0" smtClean="0"/>
              <a:t>8 </a:t>
            </a:r>
            <a:r>
              <a:rPr lang="en-US" dirty="0" smtClean="0"/>
              <a:t>– </a:t>
            </a:r>
            <a:r>
              <a:rPr lang="en-US" dirty="0" smtClean="0"/>
              <a:t>Using Algorithms for Painting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19163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Programming – Why We Need it?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 smtClean="0"/>
              <a:t>Human Communication VS Machine Communication</a:t>
            </a:r>
          </a:p>
          <a:p>
            <a:endParaRPr lang="en-US" sz="3000" dirty="0"/>
          </a:p>
        </p:txBody>
      </p:sp>
      <p:sp>
        <p:nvSpPr>
          <p:cNvPr id="7" name="Footer Placeholder 3"/>
          <p:cNvSpPr txBox="1">
            <a:spLocks/>
          </p:cNvSpPr>
          <p:nvPr/>
        </p:nvSpPr>
        <p:spPr>
          <a:xfrm>
            <a:off x="4186460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 smtClean="0"/>
              <a:t>Source – </a:t>
            </a:r>
            <a:r>
              <a:rPr lang="en-US" sz="1200" dirty="0" smtClean="0">
                <a:hlinkClick r:id="rId2"/>
              </a:rPr>
              <a:t>http</a:t>
            </a:r>
            <a:r>
              <a:rPr lang="en-US" sz="1200" dirty="0">
                <a:hlinkClick r:id="rId2"/>
              </a:rPr>
              <a:t>://</a:t>
            </a:r>
            <a:r>
              <a:rPr lang="en-US" sz="1200" dirty="0" smtClean="0">
                <a:hlinkClick r:id="rId2"/>
              </a:rPr>
              <a:t>trycatch22.com/blog/the-computer-architecture-analogy-part-4-assembly-programming/</a:t>
            </a:r>
            <a:endParaRPr lang="en-US" sz="1200" dirty="0"/>
          </a:p>
        </p:txBody>
      </p:sp>
      <p:grpSp>
        <p:nvGrpSpPr>
          <p:cNvPr id="17" name="Group 16"/>
          <p:cNvGrpSpPr/>
          <p:nvPr/>
        </p:nvGrpSpPr>
        <p:grpSpPr>
          <a:xfrm>
            <a:off x="1177074" y="3107694"/>
            <a:ext cx="9778375" cy="2768174"/>
            <a:chOff x="1177074" y="3107694"/>
            <a:chExt cx="9778375" cy="2768174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01054" y="3107694"/>
              <a:ext cx="5854395" cy="2768174"/>
            </a:xfrm>
            <a:prstGeom prst="rect">
              <a:avLst/>
            </a:prstGeom>
          </p:spPr>
        </p:pic>
        <p:grpSp>
          <p:nvGrpSpPr>
            <p:cNvPr id="16" name="Group 15"/>
            <p:cNvGrpSpPr/>
            <p:nvPr/>
          </p:nvGrpSpPr>
          <p:grpSpPr>
            <a:xfrm>
              <a:off x="1177074" y="3298210"/>
              <a:ext cx="4050677" cy="2439558"/>
              <a:chOff x="897674" y="3298210"/>
              <a:chExt cx="4050677" cy="2439558"/>
            </a:xfrm>
          </p:grpSpPr>
          <p:sp>
            <p:nvSpPr>
              <p:cNvPr id="8" name="TextBox 7"/>
              <p:cNvSpPr txBox="1"/>
              <p:nvPr/>
            </p:nvSpPr>
            <p:spPr>
              <a:xfrm>
                <a:off x="969848" y="5368436"/>
                <a:ext cx="38010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 smtClean="0"/>
                  <a:t>Logic Gates – AND, OR, XOR, NOT</a:t>
                </a:r>
                <a:endParaRPr lang="en-US" b="1" dirty="0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897674" y="4723723"/>
                <a:ext cx="39453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000000 00001 00010 00110 00000 100000</a:t>
                </a: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1002997" y="3904217"/>
                <a:ext cx="39453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 smtClean="0"/>
                  <a:t>MOV </a:t>
                </a:r>
                <a:r>
                  <a:rPr lang="en-US" b="1" dirty="0"/>
                  <a:t>ax</a:t>
                </a:r>
                <a:r>
                  <a:rPr lang="en-US" b="1" dirty="0" smtClean="0"/>
                  <a:t>, opr1 </a:t>
                </a:r>
              </a:p>
              <a:p>
                <a:pPr algn="ctr"/>
                <a:r>
                  <a:rPr lang="en-US" b="1" dirty="0" smtClean="0"/>
                  <a:t>ADD ax, bx</a:t>
                </a:r>
                <a:endParaRPr lang="en-US" b="1" dirty="0"/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1002997" y="3298210"/>
                <a:ext cx="39453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 smtClean="0"/>
                  <a:t>int x = a + b </a:t>
                </a:r>
                <a:endParaRPr lang="en-US" b="1" dirty="0"/>
              </a:p>
            </p:txBody>
          </p:sp>
        </p:grpSp>
      </p:grpSp>
      <p:sp>
        <p:nvSpPr>
          <p:cNvPr id="1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95401" y="5981879"/>
            <a:ext cx="7305900" cy="279400"/>
          </a:xfrm>
        </p:spPr>
        <p:txBody>
          <a:bodyPr/>
          <a:lstStyle/>
          <a:p>
            <a:r>
              <a:rPr lang="en-US" dirty="0" smtClean="0"/>
              <a:t>CS 1150 - Lab </a:t>
            </a:r>
            <a:r>
              <a:rPr lang="en-US" dirty="0" smtClean="0"/>
              <a:t>8 </a:t>
            </a:r>
            <a:r>
              <a:rPr lang="en-US" dirty="0" smtClean="0"/>
              <a:t>– </a:t>
            </a:r>
            <a:r>
              <a:rPr lang="en-US" dirty="0" smtClean="0"/>
              <a:t>Using Algorithms for Painting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32423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Palgo Applet’s Programming Language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 smtClean="0"/>
              <a:t>Uses special keyword constructs – Eg – color, goto, pen down, repeat times, end etc.</a:t>
            </a:r>
          </a:p>
          <a:p>
            <a:pPr lvl="1"/>
            <a:r>
              <a:rPr lang="en-US" sz="2600" dirty="0" smtClean="0"/>
              <a:t>Those have special meanings</a:t>
            </a:r>
          </a:p>
          <a:p>
            <a:pPr lvl="1"/>
            <a:r>
              <a:rPr lang="en-US" sz="2600" dirty="0" smtClean="0"/>
              <a:t>Syntax of the program should be correct to run it without errors</a:t>
            </a:r>
          </a:p>
          <a:p>
            <a:pPr lvl="1"/>
            <a:r>
              <a:rPr lang="en-US" sz="2600" dirty="0" smtClean="0"/>
              <a:t>Special constructs to define functions (not covered) and loops</a:t>
            </a:r>
            <a:endParaRPr lang="en-US" sz="2600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95401" y="5981879"/>
            <a:ext cx="7305900" cy="279400"/>
          </a:xfrm>
        </p:spPr>
        <p:txBody>
          <a:bodyPr/>
          <a:lstStyle/>
          <a:p>
            <a:r>
              <a:rPr lang="en-US" dirty="0" smtClean="0"/>
              <a:t>CS 1150 - Lab </a:t>
            </a:r>
            <a:r>
              <a:rPr lang="en-US" dirty="0" smtClean="0"/>
              <a:t>8 </a:t>
            </a:r>
            <a:r>
              <a:rPr lang="en-US" dirty="0" smtClean="0"/>
              <a:t>– </a:t>
            </a:r>
            <a:r>
              <a:rPr lang="en-US" dirty="0" smtClean="0"/>
              <a:t>Using Algorithms for Painting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200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 1 Corrections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7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000" dirty="0" smtClean="0"/>
              <a:t>Question 2 – Section (b)</a:t>
            </a:r>
          </a:p>
          <a:p>
            <a:pPr lvl="1"/>
            <a:r>
              <a:rPr lang="en-US" sz="2600" b="1" dirty="0" smtClean="0"/>
              <a:t>Draw a line from 7,2 to 17,2</a:t>
            </a:r>
          </a:p>
          <a:p>
            <a:r>
              <a:rPr lang="en-US" sz="3000" dirty="0"/>
              <a:t>Question 2 – Section </a:t>
            </a:r>
            <a:r>
              <a:rPr lang="en-US" sz="3000" dirty="0" smtClean="0"/>
              <a:t>(d)</a:t>
            </a:r>
            <a:endParaRPr lang="en-US" sz="3000" dirty="0"/>
          </a:p>
          <a:p>
            <a:pPr lvl="1"/>
            <a:r>
              <a:rPr lang="en-US" sz="2600" b="1" dirty="0" smtClean="0"/>
              <a:t>Draw a vertical line starting at 7,2	</a:t>
            </a:r>
          </a:p>
          <a:p>
            <a:r>
              <a:rPr lang="en-US" sz="3000" b="1" dirty="0">
                <a:solidFill>
                  <a:schemeClr val="tx1"/>
                </a:solidFill>
              </a:rPr>
              <a:t>NOTE </a:t>
            </a:r>
            <a:r>
              <a:rPr lang="en-US" sz="3000" b="1" dirty="0" smtClean="0">
                <a:solidFill>
                  <a:schemeClr val="tx1"/>
                </a:solidFill>
              </a:rPr>
              <a:t>– In all Coordinates, the Column </a:t>
            </a:r>
            <a:r>
              <a:rPr lang="en-US" sz="3000" b="1" dirty="0">
                <a:solidFill>
                  <a:schemeClr val="tx1"/>
                </a:solidFill>
              </a:rPr>
              <a:t>is listed first, then </a:t>
            </a:r>
            <a:r>
              <a:rPr lang="en-US" sz="3000" b="1" dirty="0" smtClean="0">
                <a:solidFill>
                  <a:schemeClr val="tx1"/>
                </a:solidFill>
              </a:rPr>
              <a:t>the Row</a:t>
            </a:r>
            <a:endParaRPr lang="en-US" sz="3000" b="1" dirty="0">
              <a:solidFill>
                <a:schemeClr val="tx1"/>
              </a:solidFill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95401" y="5981879"/>
            <a:ext cx="7305900" cy="279400"/>
          </a:xfrm>
        </p:spPr>
        <p:txBody>
          <a:bodyPr/>
          <a:lstStyle/>
          <a:p>
            <a:r>
              <a:rPr lang="en-US" dirty="0" smtClean="0"/>
              <a:t>CS 1150 - Lab </a:t>
            </a:r>
            <a:r>
              <a:rPr lang="en-US" dirty="0" smtClean="0"/>
              <a:t>8 </a:t>
            </a:r>
            <a:r>
              <a:rPr lang="en-US" dirty="0" smtClean="0"/>
              <a:t>– </a:t>
            </a:r>
            <a:r>
              <a:rPr lang="en-US" dirty="0" smtClean="0"/>
              <a:t>Using Algorithms for Painting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7116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</a:t>
            </a:r>
            <a:r>
              <a:rPr lang="en-US" dirty="0" smtClean="0"/>
              <a:t>1 Help – Commands to Use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8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412068"/>
          </a:xfrm>
        </p:spPr>
        <p:txBody>
          <a:bodyPr>
            <a:normAutofit fontScale="92500"/>
          </a:bodyPr>
          <a:lstStyle/>
          <a:p>
            <a:r>
              <a:rPr lang="en-US" sz="3000" b="1" dirty="0"/>
              <a:t>Read page </a:t>
            </a:r>
            <a:r>
              <a:rPr lang="en-US" sz="3000" b="1" dirty="0" smtClean="0"/>
              <a:t>104 in </a:t>
            </a:r>
            <a:r>
              <a:rPr lang="en-US" sz="3000" b="1" dirty="0"/>
              <a:t>Lab </a:t>
            </a:r>
            <a:r>
              <a:rPr lang="en-US" sz="3000" b="1" dirty="0" smtClean="0"/>
              <a:t>8</a:t>
            </a:r>
            <a:endParaRPr lang="en-US" sz="3000" b="1" dirty="0" smtClean="0">
              <a:solidFill>
                <a:schemeClr val="tx1"/>
              </a:solidFill>
            </a:endParaRPr>
          </a:p>
          <a:p>
            <a:r>
              <a:rPr lang="en-US" sz="3000" b="1" dirty="0" smtClean="0">
                <a:solidFill>
                  <a:schemeClr val="tx1"/>
                </a:solidFill>
              </a:rPr>
              <a:t>color</a:t>
            </a:r>
            <a:r>
              <a:rPr lang="en-US" sz="3000" dirty="0" smtClean="0"/>
              <a:t> – Changes the Color of the Pen. </a:t>
            </a:r>
            <a:r>
              <a:rPr lang="en-US" sz="2600" dirty="0" smtClean="0"/>
              <a:t>Eg – color “red”</a:t>
            </a:r>
          </a:p>
          <a:p>
            <a:r>
              <a:rPr lang="en-US" sz="3000" b="1" dirty="0" smtClean="0"/>
              <a:t>pen down </a:t>
            </a:r>
            <a:r>
              <a:rPr lang="en-US" sz="3000" dirty="0" smtClean="0"/>
              <a:t>– Starts coloring squares with color selected</a:t>
            </a:r>
            <a:endParaRPr lang="en-US" sz="2600" dirty="0"/>
          </a:p>
          <a:p>
            <a:r>
              <a:rPr lang="en-US" sz="3000" b="1" dirty="0" smtClean="0"/>
              <a:t>goto</a:t>
            </a:r>
            <a:r>
              <a:rPr lang="en-US" sz="3000" dirty="0" smtClean="0"/>
              <a:t> – Moves the Pen to a Cell (Jumps to a Cell). Eg – goto 1 19</a:t>
            </a:r>
          </a:p>
          <a:p>
            <a:r>
              <a:rPr lang="en-US" sz="3000" b="1" dirty="0" smtClean="0"/>
              <a:t>up/down/left/right</a:t>
            </a:r>
            <a:r>
              <a:rPr lang="en-US" sz="3000" dirty="0" smtClean="0"/>
              <a:t> – Moves the Pen X number of cells in the given direction. Eg – up 20</a:t>
            </a: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95401" y="5981879"/>
            <a:ext cx="7305900" cy="279400"/>
          </a:xfrm>
        </p:spPr>
        <p:txBody>
          <a:bodyPr/>
          <a:lstStyle/>
          <a:p>
            <a:r>
              <a:rPr lang="en-US" dirty="0" smtClean="0"/>
              <a:t>CS 1150 - Lab </a:t>
            </a:r>
            <a:r>
              <a:rPr lang="en-US" dirty="0" smtClean="0"/>
              <a:t>8 </a:t>
            </a:r>
            <a:r>
              <a:rPr lang="en-US" dirty="0" smtClean="0"/>
              <a:t>– </a:t>
            </a:r>
            <a:r>
              <a:rPr lang="en-US" dirty="0" smtClean="0"/>
              <a:t>Using Algorithms for Painting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55659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</a:t>
            </a:r>
            <a:r>
              <a:rPr lang="en-US" dirty="0" smtClean="0"/>
              <a:t>2 </a:t>
            </a:r>
            <a:r>
              <a:rPr lang="en-US" dirty="0"/>
              <a:t>Help – Commands to Use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9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412068"/>
          </a:xfrm>
        </p:spPr>
        <p:txBody>
          <a:bodyPr>
            <a:normAutofit lnSpcReduction="10000"/>
          </a:bodyPr>
          <a:lstStyle/>
          <a:p>
            <a:r>
              <a:rPr lang="en-US" sz="3000" b="1" dirty="0" smtClean="0"/>
              <a:t>Read page 105 – 107 in Lab 8</a:t>
            </a:r>
          </a:p>
          <a:p>
            <a:r>
              <a:rPr lang="en-US" sz="3000" dirty="0" smtClean="0"/>
              <a:t>Open Example 4 – Squares and alter it</a:t>
            </a:r>
          </a:p>
          <a:p>
            <a:r>
              <a:rPr lang="en-US" sz="3000" b="1" dirty="0" smtClean="0"/>
              <a:t>x = 5 </a:t>
            </a:r>
            <a:r>
              <a:rPr lang="en-US" sz="3000" dirty="0" smtClean="0"/>
              <a:t>– Setting variable x’s value to 5</a:t>
            </a:r>
          </a:p>
          <a:p>
            <a:r>
              <a:rPr lang="en-US" sz="3000" b="1" dirty="0" smtClean="0"/>
              <a:t>random(256) </a:t>
            </a:r>
            <a:r>
              <a:rPr lang="en-US" sz="3000" dirty="0" smtClean="0"/>
              <a:t>– Select a random value from 1 to 256. Eg –    r = random(256)</a:t>
            </a:r>
          </a:p>
          <a:p>
            <a:r>
              <a:rPr lang="en-US" sz="3000" b="1" dirty="0" smtClean="0"/>
              <a:t>x = x + 1 </a:t>
            </a:r>
            <a:r>
              <a:rPr lang="en-US" sz="3000" dirty="0" smtClean="0"/>
              <a:t>– Add 1 to variable x</a:t>
            </a: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95401" y="5981879"/>
            <a:ext cx="7305900" cy="279400"/>
          </a:xfrm>
        </p:spPr>
        <p:txBody>
          <a:bodyPr/>
          <a:lstStyle/>
          <a:p>
            <a:r>
              <a:rPr lang="en-US" dirty="0" smtClean="0"/>
              <a:t>CS 1150 - Lab </a:t>
            </a:r>
            <a:r>
              <a:rPr lang="en-US" dirty="0" smtClean="0"/>
              <a:t>8 </a:t>
            </a:r>
            <a:r>
              <a:rPr lang="en-US" dirty="0" smtClean="0"/>
              <a:t>– </a:t>
            </a:r>
            <a:r>
              <a:rPr lang="en-US" dirty="0" smtClean="0"/>
              <a:t>Using Algorithms for Painting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4845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 Help – Commands to </a:t>
            </a:r>
            <a:r>
              <a:rPr lang="en-US" dirty="0" smtClean="0"/>
              <a:t>Use Cont.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10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b="1" dirty="0" smtClean="0"/>
              <a:t>repeat 3 times </a:t>
            </a:r>
            <a:r>
              <a:rPr lang="en-US" sz="3000" dirty="0" smtClean="0"/>
              <a:t>– A loop that executes the statements in its body 3 times</a:t>
            </a:r>
          </a:p>
          <a:p>
            <a:r>
              <a:rPr lang="en-US" sz="3000" b="1" dirty="0" smtClean="0"/>
              <a:t>end</a:t>
            </a:r>
            <a:r>
              <a:rPr lang="en-US" sz="3000" dirty="0" smtClean="0"/>
              <a:t> – Stops the loop</a:t>
            </a:r>
          </a:p>
          <a:p>
            <a:r>
              <a:rPr lang="en-US" sz="3000" b="1" dirty="0" smtClean="0"/>
              <a:t>square(x) </a:t>
            </a:r>
            <a:r>
              <a:rPr lang="en-US" sz="3000" dirty="0" smtClean="0"/>
              <a:t>– Invoke square function using variable x. random(256) was also a function, we invoked it with the value 256 instead of a variable</a:t>
            </a:r>
            <a:r>
              <a:rPr lang="en-US" sz="3000" dirty="0" smtClean="0"/>
              <a:t>.</a:t>
            </a:r>
            <a:endParaRPr lang="en-US" sz="3000" b="1" dirty="0" smtClean="0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95401" y="5981879"/>
            <a:ext cx="7305900" cy="279400"/>
          </a:xfrm>
        </p:spPr>
        <p:txBody>
          <a:bodyPr/>
          <a:lstStyle/>
          <a:p>
            <a:r>
              <a:rPr lang="en-US" dirty="0" smtClean="0"/>
              <a:t>CS 1150 - Lab </a:t>
            </a:r>
            <a:r>
              <a:rPr lang="en-US" dirty="0" smtClean="0"/>
              <a:t>8 </a:t>
            </a:r>
            <a:r>
              <a:rPr lang="en-US" dirty="0" smtClean="0"/>
              <a:t>– </a:t>
            </a:r>
            <a:r>
              <a:rPr lang="en-US" dirty="0" smtClean="0"/>
              <a:t>Using Algorithms for Painting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8189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5500" y="982132"/>
            <a:ext cx="10579100" cy="1303867"/>
          </a:xfrm>
        </p:spPr>
        <p:txBody>
          <a:bodyPr>
            <a:normAutofit/>
          </a:bodyPr>
          <a:lstStyle/>
          <a:p>
            <a:r>
              <a:rPr lang="en-US" dirty="0"/>
              <a:t>Exercise 2 </a:t>
            </a:r>
            <a:r>
              <a:rPr lang="en-US" dirty="0" smtClean="0"/>
              <a:t>Help – </a:t>
            </a:r>
            <a:r>
              <a:rPr lang="en-US" dirty="0" smtClean="0"/>
              <a:t>Loop Instructions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11</a:t>
            </a:fld>
            <a:endParaRPr lang="en-US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1592" y="2478184"/>
            <a:ext cx="7246915" cy="3516216"/>
          </a:xfrm>
          <a:prstGeom prst="rect">
            <a:avLst/>
          </a:prstGeom>
        </p:spPr>
      </p:pic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95401" y="5981879"/>
            <a:ext cx="7305900" cy="279400"/>
          </a:xfrm>
        </p:spPr>
        <p:txBody>
          <a:bodyPr/>
          <a:lstStyle/>
          <a:p>
            <a:r>
              <a:rPr lang="en-US" dirty="0" smtClean="0"/>
              <a:t>CS 1150 - Lab </a:t>
            </a:r>
            <a:r>
              <a:rPr lang="en-US" dirty="0" smtClean="0"/>
              <a:t>8 </a:t>
            </a:r>
            <a:r>
              <a:rPr lang="en-US" dirty="0" smtClean="0"/>
              <a:t>– </a:t>
            </a:r>
            <a:r>
              <a:rPr lang="en-US" dirty="0" smtClean="0"/>
              <a:t>Using Algorithms for Painting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54511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</a:t>
            </a:r>
            <a:r>
              <a:rPr lang="en-US" dirty="0" smtClean="0"/>
              <a:t>3 Help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12</a:t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295400" y="2556932"/>
            <a:ext cx="9969499" cy="3318936"/>
          </a:xfrm>
        </p:spPr>
        <p:txBody>
          <a:bodyPr>
            <a:normAutofit/>
          </a:bodyPr>
          <a:lstStyle/>
          <a:p>
            <a:r>
              <a:rPr lang="en-US" dirty="0" smtClean="0"/>
              <a:t>Start </a:t>
            </a:r>
            <a:r>
              <a:rPr lang="en-US" dirty="0"/>
              <a:t>the </a:t>
            </a:r>
            <a:r>
              <a:rPr lang="en-US" dirty="0" smtClean="0"/>
              <a:t>letter </a:t>
            </a:r>
            <a:r>
              <a:rPr lang="en-US" dirty="0"/>
              <a:t>T at coordinate </a:t>
            </a:r>
            <a:r>
              <a:rPr lang="en-US" dirty="0" smtClean="0"/>
              <a:t>1,1 </a:t>
            </a:r>
            <a:r>
              <a:rPr lang="en-US" dirty="0"/>
              <a:t>Start the letter H at coordinate </a:t>
            </a:r>
            <a:r>
              <a:rPr lang="en-US" dirty="0" smtClean="0"/>
              <a:t>7,1 and </a:t>
            </a:r>
            <a:r>
              <a:rPr lang="en-US" dirty="0"/>
              <a:t>Start the letter E at coordinate </a:t>
            </a:r>
            <a:r>
              <a:rPr lang="en-US" dirty="0" smtClean="0"/>
              <a:t>12,1</a:t>
            </a:r>
          </a:p>
          <a:p>
            <a:r>
              <a:rPr lang="en-US" dirty="0" smtClean="0"/>
              <a:t>Commands to Use – color, pen down, goto, up/down/left/right</a:t>
            </a:r>
          </a:p>
          <a:p>
            <a:pPr marL="0" indent="0">
              <a:buNone/>
            </a:pPr>
            <a:endParaRPr lang="en-US" sz="30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3325" y="3860389"/>
            <a:ext cx="4865349" cy="2062045"/>
          </a:xfrm>
          <a:prstGeom prst="rect">
            <a:avLst/>
          </a:prstGeom>
        </p:spPr>
      </p:pic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95401" y="5981879"/>
            <a:ext cx="7305900" cy="279400"/>
          </a:xfrm>
        </p:spPr>
        <p:txBody>
          <a:bodyPr/>
          <a:lstStyle/>
          <a:p>
            <a:r>
              <a:rPr lang="en-US" dirty="0" smtClean="0"/>
              <a:t>CS 1150 - Lab </a:t>
            </a:r>
            <a:r>
              <a:rPr lang="en-US" dirty="0" smtClean="0"/>
              <a:t>8 </a:t>
            </a:r>
            <a:r>
              <a:rPr lang="en-US" dirty="0" smtClean="0"/>
              <a:t>– </a:t>
            </a:r>
            <a:r>
              <a:rPr lang="en-US" dirty="0" smtClean="0"/>
              <a:t>Using Algorithms for Painting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204421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</a:t>
            </a:r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13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b="1" dirty="0" smtClean="0"/>
              <a:t>Omit </a:t>
            </a:r>
            <a:r>
              <a:rPr lang="en-US" sz="3000" b="1" dirty="0" smtClean="0"/>
              <a:t>Question </a:t>
            </a:r>
            <a:r>
              <a:rPr lang="en-US" sz="3000" b="1" dirty="0" smtClean="0"/>
              <a:t>7 and 8</a:t>
            </a:r>
            <a:endParaRPr lang="en-US" sz="3000" b="1" dirty="0" smtClean="0"/>
          </a:p>
          <a:p>
            <a:pPr marL="0" indent="0">
              <a:buNone/>
            </a:pPr>
            <a:endParaRPr lang="en-US" sz="3000" b="1" dirty="0" smtClean="0"/>
          </a:p>
          <a:p>
            <a:endParaRPr lang="en-US" sz="3000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95401" y="5981879"/>
            <a:ext cx="7305900" cy="279400"/>
          </a:xfrm>
        </p:spPr>
        <p:txBody>
          <a:bodyPr/>
          <a:lstStyle/>
          <a:p>
            <a:r>
              <a:rPr lang="en-US" dirty="0" smtClean="0"/>
              <a:t>CS 1150 - Lab </a:t>
            </a:r>
            <a:r>
              <a:rPr lang="en-US" dirty="0" smtClean="0"/>
              <a:t>8 </a:t>
            </a:r>
            <a:r>
              <a:rPr lang="en-US" dirty="0" smtClean="0"/>
              <a:t>– </a:t>
            </a:r>
            <a:r>
              <a:rPr lang="en-US" dirty="0" smtClean="0"/>
              <a:t>Using Algorithms for Painting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9622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Additional Help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14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 smtClean="0"/>
              <a:t>Chapter </a:t>
            </a:r>
            <a:r>
              <a:rPr lang="en-US" sz="3000" dirty="0" smtClean="0"/>
              <a:t>7 </a:t>
            </a:r>
            <a:r>
              <a:rPr lang="en-US" sz="3000" dirty="0"/>
              <a:t>of Course Text Book – Problem Solving and Algorithms</a:t>
            </a: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95401" y="5981879"/>
            <a:ext cx="7305900" cy="279400"/>
          </a:xfrm>
        </p:spPr>
        <p:txBody>
          <a:bodyPr/>
          <a:lstStyle/>
          <a:p>
            <a:r>
              <a:rPr lang="en-US" dirty="0" smtClean="0"/>
              <a:t>CS 1150 - Lab </a:t>
            </a:r>
            <a:r>
              <a:rPr lang="en-US" dirty="0" smtClean="0"/>
              <a:t>8 </a:t>
            </a:r>
            <a:r>
              <a:rPr lang="en-US" dirty="0" smtClean="0"/>
              <a:t>– </a:t>
            </a:r>
            <a:r>
              <a:rPr lang="en-US" dirty="0" smtClean="0"/>
              <a:t>Using Algorithms for Painting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3122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2000" dirty="0" smtClean="0"/>
          </a:p>
          <a:p>
            <a:pPr marL="0" indent="0" algn="ctr">
              <a:buNone/>
            </a:pPr>
            <a:r>
              <a:rPr lang="en-US" sz="4800" dirty="0" smtClean="0"/>
              <a:t>If you have questions, please raise your hand, Colin or </a:t>
            </a:r>
            <a:r>
              <a:rPr lang="en-US" sz="4800" dirty="0" smtClean="0"/>
              <a:t>I will </a:t>
            </a:r>
            <a:r>
              <a:rPr lang="en-US" sz="4800" dirty="0" smtClean="0"/>
              <a:t>come to help you</a:t>
            </a:r>
            <a:endParaRPr lang="en-US" sz="4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15</a:t>
            </a:fld>
            <a:endParaRPr lang="en-US" dirty="0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95401" y="5981879"/>
            <a:ext cx="7305900" cy="279400"/>
          </a:xfrm>
        </p:spPr>
        <p:txBody>
          <a:bodyPr/>
          <a:lstStyle/>
          <a:p>
            <a:r>
              <a:rPr lang="en-US" dirty="0" smtClean="0"/>
              <a:t>CS 1150 - Lab </a:t>
            </a:r>
            <a:r>
              <a:rPr lang="en-US" dirty="0" smtClean="0"/>
              <a:t>8 </a:t>
            </a:r>
            <a:r>
              <a:rPr lang="en-US" dirty="0" smtClean="0"/>
              <a:t>– </a:t>
            </a:r>
            <a:r>
              <a:rPr lang="en-US" dirty="0" smtClean="0"/>
              <a:t>Using Algorithms for Painting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44709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6480</TotalTime>
  <Words>771</Words>
  <Application>Microsoft Office PowerPoint</Application>
  <PresentationFormat>Widescreen</PresentationFormat>
  <Paragraphs>98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Garamond</vt:lpstr>
      <vt:lpstr>Organic</vt:lpstr>
      <vt:lpstr>CS 1150 – Lab #8 – Using Algorithms for Painting</vt:lpstr>
      <vt:lpstr>TA Labs, Office Hours Laboratory Polices</vt:lpstr>
      <vt:lpstr>Lab #8 Overview</vt:lpstr>
      <vt:lpstr>How to Submit Lab #8 </vt:lpstr>
      <vt:lpstr>Programming – Why We Need it?</vt:lpstr>
      <vt:lpstr>Palgo Applet’s Programming Language</vt:lpstr>
      <vt:lpstr>Exercise 1 Corrections</vt:lpstr>
      <vt:lpstr>Exercise 1 Help – Commands to Use</vt:lpstr>
      <vt:lpstr>Exercise 2 Help – Commands to Use</vt:lpstr>
      <vt:lpstr>Exercise 2 Help – Commands to Use Cont.</vt:lpstr>
      <vt:lpstr>Exercise 2 Help – Loop Instructions</vt:lpstr>
      <vt:lpstr>Exercise 3 Help</vt:lpstr>
      <vt:lpstr>Exercise 4</vt:lpstr>
      <vt:lpstr>Additional Help</vt:lpstr>
      <vt:lpstr>Questions ?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1150 – Lab #2 – Exploring Number Systems</dc:title>
  <dc:creator>student</dc:creator>
  <cp:lastModifiedBy>SanJ Wijeratne</cp:lastModifiedBy>
  <cp:revision>86</cp:revision>
  <dcterms:created xsi:type="dcterms:W3CDTF">2013-09-09T12:09:59Z</dcterms:created>
  <dcterms:modified xsi:type="dcterms:W3CDTF">2014-02-17T04:43:52Z</dcterms:modified>
</cp:coreProperties>
</file>